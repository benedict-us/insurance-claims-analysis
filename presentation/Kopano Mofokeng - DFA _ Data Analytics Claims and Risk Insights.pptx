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58" r:id="rId5"/>
    <p:sldId id="262" r:id="rId6"/>
    <p:sldId id="263" r:id="rId7"/>
    <p:sldId id="260" r:id="rId8"/>
    <p:sldId id="264" r:id="rId9"/>
    <p:sldId id="265" r:id="rId10"/>
  </p:sldIdLst>
  <p:sldSz cx="18288000" cy="10287000"/>
  <p:notesSz cx="6858000" cy="9144000"/>
  <p:embeddedFontLst>
    <p:embeddedFont>
      <p:font typeface="Bricolage Grotesque" panose="020B0604020202020204" charset="0"/>
      <p:regular r:id="rId12"/>
    </p:embeddedFont>
    <p:embeddedFont>
      <p:font typeface="Bricolage Grotesque Bold" panose="020B0604020202020204" charset="0"/>
      <p:regular r:id="rId13"/>
    </p:embeddedFont>
    <p:embeddedFont>
      <p:font typeface="Canva Sans Bold" panose="020B0604020202020204" charset="0"/>
      <p:regular r:id="rId14"/>
    </p:embeddedFont>
    <p:embeddedFont>
      <p:font typeface="Poppins" panose="00000500000000000000" pitchFamily="2" charset="0"/>
      <p:regular r:id="rId15"/>
      <p:bold r:id="rId16"/>
      <p:italic r:id="rId17"/>
      <p:boldItalic r:id="rId18"/>
    </p:embeddedFont>
    <p:embeddedFont>
      <p:font typeface="Poppins Bold" panose="00000800000000000000" pitchFamily="2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74505" autoAdjust="0"/>
  </p:normalViewPr>
  <p:slideViewPr>
    <p:cSldViewPr>
      <p:cViewPr varScale="1">
        <p:scale>
          <a:sx n="49" d="100"/>
          <a:sy n="49" d="100"/>
        </p:scale>
        <p:origin x="104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pano Mofokeng" userId="1ca9e917-17e2-47cd-a8c4-dd96cff06eeb" providerId="ADAL" clId="{863EF9E2-CB1F-48CC-BDCD-1414537DEEAF}"/>
    <pc:docChg chg="modSld">
      <pc:chgData name="Kopano Mofokeng" userId="1ca9e917-17e2-47cd-a8c4-dd96cff06eeb" providerId="ADAL" clId="{863EF9E2-CB1F-48CC-BDCD-1414537DEEAF}" dt="2026-04-26T22:01:06.939" v="8" actId="20577"/>
      <pc:docMkLst>
        <pc:docMk/>
      </pc:docMkLst>
      <pc:sldChg chg="modNotesTx">
        <pc:chgData name="Kopano Mofokeng" userId="1ca9e917-17e2-47cd-a8c4-dd96cff06eeb" providerId="ADAL" clId="{863EF9E2-CB1F-48CC-BDCD-1414537DEEAF}" dt="2026-04-26T22:00:34.789" v="0" actId="20577"/>
        <pc:sldMkLst>
          <pc:docMk/>
          <pc:sldMk cId="0" sldId="256"/>
        </pc:sldMkLst>
      </pc:sldChg>
      <pc:sldChg chg="modNotesTx">
        <pc:chgData name="Kopano Mofokeng" userId="1ca9e917-17e2-47cd-a8c4-dd96cff06eeb" providerId="ADAL" clId="{863EF9E2-CB1F-48CC-BDCD-1414537DEEAF}" dt="2026-04-26T22:00:38.529" v="1" actId="20577"/>
        <pc:sldMkLst>
          <pc:docMk/>
          <pc:sldMk cId="0" sldId="257"/>
        </pc:sldMkLst>
      </pc:sldChg>
      <pc:sldChg chg="modNotesTx">
        <pc:chgData name="Kopano Mofokeng" userId="1ca9e917-17e2-47cd-a8c4-dd96cff06eeb" providerId="ADAL" clId="{863EF9E2-CB1F-48CC-BDCD-1414537DEEAF}" dt="2026-04-26T22:00:51.534" v="3" actId="20577"/>
        <pc:sldMkLst>
          <pc:docMk/>
          <pc:sldMk cId="0" sldId="258"/>
        </pc:sldMkLst>
      </pc:sldChg>
      <pc:sldChg chg="modNotesTx">
        <pc:chgData name="Kopano Mofokeng" userId="1ca9e917-17e2-47cd-a8c4-dd96cff06eeb" providerId="ADAL" clId="{863EF9E2-CB1F-48CC-BDCD-1414537DEEAF}" dt="2026-04-26T22:00:45.406" v="2" actId="20577"/>
        <pc:sldMkLst>
          <pc:docMk/>
          <pc:sldMk cId="0" sldId="259"/>
        </pc:sldMkLst>
      </pc:sldChg>
      <pc:sldChg chg="modNotesTx">
        <pc:chgData name="Kopano Mofokeng" userId="1ca9e917-17e2-47cd-a8c4-dd96cff06eeb" providerId="ADAL" clId="{863EF9E2-CB1F-48CC-BDCD-1414537DEEAF}" dt="2026-04-26T22:01:00.969" v="6" actId="20577"/>
        <pc:sldMkLst>
          <pc:docMk/>
          <pc:sldMk cId="0" sldId="260"/>
        </pc:sldMkLst>
      </pc:sldChg>
      <pc:sldChg chg="modNotesTx">
        <pc:chgData name="Kopano Mofokeng" userId="1ca9e917-17e2-47cd-a8c4-dd96cff06eeb" providerId="ADAL" clId="{863EF9E2-CB1F-48CC-BDCD-1414537DEEAF}" dt="2026-04-26T22:00:54.680" v="4" actId="20577"/>
        <pc:sldMkLst>
          <pc:docMk/>
          <pc:sldMk cId="0" sldId="262"/>
        </pc:sldMkLst>
      </pc:sldChg>
      <pc:sldChg chg="modNotesTx">
        <pc:chgData name="Kopano Mofokeng" userId="1ca9e917-17e2-47cd-a8c4-dd96cff06eeb" providerId="ADAL" clId="{863EF9E2-CB1F-48CC-BDCD-1414537DEEAF}" dt="2026-04-26T22:00:57.026" v="5" actId="20577"/>
        <pc:sldMkLst>
          <pc:docMk/>
          <pc:sldMk cId="0" sldId="263"/>
        </pc:sldMkLst>
      </pc:sldChg>
      <pc:sldChg chg="modNotesTx">
        <pc:chgData name="Kopano Mofokeng" userId="1ca9e917-17e2-47cd-a8c4-dd96cff06eeb" providerId="ADAL" clId="{863EF9E2-CB1F-48CC-BDCD-1414537DEEAF}" dt="2026-04-26T22:01:03.730" v="7" actId="20577"/>
        <pc:sldMkLst>
          <pc:docMk/>
          <pc:sldMk cId="0" sldId="264"/>
        </pc:sldMkLst>
      </pc:sldChg>
      <pc:sldChg chg="modNotesTx">
        <pc:chgData name="Kopano Mofokeng" userId="1ca9e917-17e2-47cd-a8c4-dd96cff06eeb" providerId="ADAL" clId="{863EF9E2-CB1F-48CC-BDCD-1414537DEEAF}" dt="2026-04-26T22:01:06.939" v="8" actId="20577"/>
        <pc:sldMkLst>
          <pc:docMk/>
          <pc:sldMk cId="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D64E4C-8FD3-40BE-9D53-1BB5AB8BB95D}" type="datetimeFigureOut">
              <a:rPr lang="en-ZA" smtClean="0"/>
              <a:t>2026/04/26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590E3E-18E2-45AA-AFA6-49CAE01F886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31628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590E3E-18E2-45AA-AFA6-49CAE01F8864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06196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590E3E-18E2-45AA-AFA6-49CAE01F8864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76287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590E3E-18E2-45AA-AFA6-49CAE01F8864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23931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590E3E-18E2-45AA-AFA6-49CAE01F8864}" type="slidenum">
              <a:rPr lang="en-ZA" smtClean="0"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249894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590E3E-18E2-45AA-AFA6-49CAE01F8864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437898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590E3E-18E2-45AA-AFA6-49CAE01F8864}" type="slidenum">
              <a:rPr lang="en-ZA" smtClean="0"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866529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590E3E-18E2-45AA-AFA6-49CAE01F8864}" type="slidenum">
              <a:rPr lang="en-ZA" smtClean="0"/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344316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590E3E-18E2-45AA-AFA6-49CAE01F8864}" type="slidenum">
              <a:rPr lang="en-ZA" smtClean="0"/>
              <a:t>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506043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590E3E-18E2-45AA-AFA6-49CAE01F8864}" type="slidenum">
              <a:rPr lang="en-ZA" smtClean="0"/>
              <a:t>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23632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://www.linkedin.com/in/kopanomofokeng/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415882" cy="10287000"/>
            <a:chOff x="0" y="0"/>
            <a:chExt cx="63628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661812" y="1246994"/>
            <a:ext cx="9375257" cy="8742427"/>
          </a:xfrm>
          <a:custGeom>
            <a:avLst/>
            <a:gdLst/>
            <a:ahLst/>
            <a:cxnLst/>
            <a:rect l="l" t="t" r="r" b="b"/>
            <a:pathLst>
              <a:path w="9375257" h="8742427">
                <a:moveTo>
                  <a:pt x="0" y="0"/>
                </a:moveTo>
                <a:lnTo>
                  <a:pt x="9375258" y="0"/>
                </a:lnTo>
                <a:lnTo>
                  <a:pt x="9375258" y="8742427"/>
                </a:lnTo>
                <a:lnTo>
                  <a:pt x="0" y="87424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6" name="Freeform 6"/>
          <p:cNvSpPr/>
          <p:nvPr/>
        </p:nvSpPr>
        <p:spPr>
          <a:xfrm>
            <a:off x="839956" y="1028700"/>
            <a:ext cx="735971" cy="710546"/>
          </a:xfrm>
          <a:custGeom>
            <a:avLst/>
            <a:gdLst/>
            <a:ahLst/>
            <a:cxnLst/>
            <a:rect l="l" t="t" r="r" b="b"/>
            <a:pathLst>
              <a:path w="735971" h="710546">
                <a:moveTo>
                  <a:pt x="0" y="0"/>
                </a:moveTo>
                <a:lnTo>
                  <a:pt x="735970" y="0"/>
                </a:lnTo>
                <a:lnTo>
                  <a:pt x="735970" y="710546"/>
                </a:lnTo>
                <a:lnTo>
                  <a:pt x="0" y="7105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7" name="Group 7"/>
          <p:cNvGrpSpPr/>
          <p:nvPr/>
        </p:nvGrpSpPr>
        <p:grpSpPr>
          <a:xfrm>
            <a:off x="3320099" y="7365824"/>
            <a:ext cx="3130827" cy="1579385"/>
            <a:chOff x="0" y="47625"/>
            <a:chExt cx="4174436" cy="2105847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385418"/>
              <a:ext cx="151982" cy="134591"/>
              <a:chOff x="0" y="0"/>
              <a:chExt cx="917825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91782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917825" h="812800">
                    <a:moveTo>
                      <a:pt x="458912" y="0"/>
                    </a:moveTo>
                    <a:cubicBezTo>
                      <a:pt x="205462" y="0"/>
                      <a:pt x="0" y="181951"/>
                      <a:pt x="0" y="406400"/>
                    </a:cubicBezTo>
                    <a:cubicBezTo>
                      <a:pt x="0" y="630849"/>
                      <a:pt x="205462" y="812800"/>
                      <a:pt x="458912" y="812800"/>
                    </a:cubicBezTo>
                    <a:cubicBezTo>
                      <a:pt x="712363" y="812800"/>
                      <a:pt x="917825" y="630849"/>
                      <a:pt x="917825" y="406400"/>
                    </a:cubicBezTo>
                    <a:cubicBezTo>
                      <a:pt x="917825" y="181951"/>
                      <a:pt x="712363" y="0"/>
                      <a:pt x="458912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6046" y="104775"/>
                <a:ext cx="745733" cy="631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1308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571929" y="47625"/>
              <a:ext cx="3104318" cy="3812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869"/>
                </a:lnSpc>
              </a:pPr>
              <a:r>
                <a:rPr lang="en-US" sz="2149" b="1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PRESENTED BY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71929" y="536670"/>
              <a:ext cx="3602507" cy="3812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869"/>
                </a:lnSpc>
              </a:pPr>
              <a:r>
                <a:rPr lang="en-US" sz="2149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"/>
                  <a:ea typeface="Poppins"/>
                  <a:cs typeface="Poppins"/>
                  <a:sym typeface="Poppins"/>
                </a:rPr>
                <a:t>Kopano Mofokeng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71929" y="1323462"/>
              <a:ext cx="3104318" cy="3812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869"/>
                </a:lnSpc>
              </a:pPr>
              <a:r>
                <a:rPr lang="en-US" sz="2149" b="1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DATE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71929" y="1806967"/>
              <a:ext cx="3602507" cy="3465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869"/>
                </a:lnSpc>
              </a:pPr>
              <a:r>
                <a:rPr lang="en-US" sz="2149" dirty="0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"/>
                  <a:ea typeface="Poppins"/>
                  <a:cs typeface="Poppins"/>
                  <a:sym typeface="Poppins"/>
                </a:rPr>
                <a:t>28 April 2026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0" y="1661082"/>
              <a:ext cx="151982" cy="134591"/>
              <a:chOff x="0" y="0"/>
              <a:chExt cx="917825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91782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917825" h="812800">
                    <a:moveTo>
                      <a:pt x="458912" y="0"/>
                    </a:moveTo>
                    <a:cubicBezTo>
                      <a:pt x="205462" y="0"/>
                      <a:pt x="0" y="181951"/>
                      <a:pt x="0" y="406400"/>
                    </a:cubicBezTo>
                    <a:cubicBezTo>
                      <a:pt x="0" y="630849"/>
                      <a:pt x="205462" y="812800"/>
                      <a:pt x="458912" y="812800"/>
                    </a:cubicBezTo>
                    <a:cubicBezTo>
                      <a:pt x="712363" y="812800"/>
                      <a:pt x="917825" y="630849"/>
                      <a:pt x="917825" y="406400"/>
                    </a:cubicBezTo>
                    <a:cubicBezTo>
                      <a:pt x="917825" y="181951"/>
                      <a:pt x="712363" y="0"/>
                      <a:pt x="458912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6046" y="104775"/>
                <a:ext cx="745733" cy="6318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1308"/>
                  </a:lnSpc>
                </a:pPr>
                <a:endParaRPr/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3320099" y="1142488"/>
            <a:ext cx="5996813" cy="4077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34"/>
              </a:lnSpc>
            </a:pPr>
            <a:r>
              <a:rPr lang="en-US" sz="8096" spc="-518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Data Analytics</a:t>
            </a:r>
          </a:p>
          <a:p>
            <a:pPr marL="0" lvl="0" indent="0" algn="l">
              <a:lnSpc>
                <a:spcPts val="7934"/>
              </a:lnSpc>
            </a:pPr>
            <a:r>
              <a:rPr lang="en-US" sz="8096" spc="-518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Insights and</a:t>
            </a:r>
          </a:p>
          <a:p>
            <a:pPr marL="0" lvl="0" indent="0" algn="l">
              <a:lnSpc>
                <a:spcPts val="7934"/>
              </a:lnSpc>
            </a:pPr>
            <a:r>
              <a:rPr lang="en-US" sz="8096" spc="-518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Recommendations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320099" y="5515061"/>
            <a:ext cx="5696631" cy="1525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67"/>
              </a:lnSpc>
            </a:pPr>
            <a:r>
              <a:rPr lang="en-US" sz="2318" spc="-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Customer Risk &amp; Claims Analysis: Insurance Company Overview</a:t>
            </a:r>
          </a:p>
          <a:p>
            <a:pPr marL="0" lvl="0" indent="0" algn="just">
              <a:lnSpc>
                <a:spcPts val="2967"/>
              </a:lnSpc>
            </a:pPr>
            <a:endParaRPr lang="en-US" sz="2318" spc="-6" dirty="0">
              <a:solidFill>
                <a:srgbClr val="3A58E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2967"/>
              </a:lnSpc>
            </a:pPr>
            <a:r>
              <a:rPr lang="en-US" sz="2318" spc="-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DataForge Africa: Final Project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50972" y="1968832"/>
            <a:ext cx="1704171" cy="342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19"/>
              </a:lnSpc>
            </a:pPr>
            <a:r>
              <a:rPr lang="en-US" sz="226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Insurance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60740" y="2310991"/>
            <a:ext cx="1704171" cy="342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19"/>
              </a:lnSpc>
            </a:pPr>
            <a:r>
              <a:rPr lang="en-US" sz="226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Analytics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360740" y="8287049"/>
            <a:ext cx="1713939" cy="684264"/>
            <a:chOff x="0" y="0"/>
            <a:chExt cx="2285252" cy="912352"/>
          </a:xfrm>
        </p:grpSpPr>
        <p:sp>
          <p:nvSpPr>
            <p:cNvPr id="23" name="TextBox 23"/>
            <p:cNvSpPr txBox="1"/>
            <p:nvPr/>
          </p:nvSpPr>
          <p:spPr>
            <a:xfrm>
              <a:off x="0" y="0"/>
              <a:ext cx="2272228" cy="4561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419"/>
                </a:lnSpc>
              </a:pPr>
              <a:r>
                <a:rPr lang="en-US" sz="2261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2024 - 2025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024" y="456176"/>
              <a:ext cx="2272228" cy="4561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419"/>
                </a:lnSpc>
              </a:pPr>
              <a:r>
                <a:rPr lang="en-US" sz="226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Report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52A312AD-9E45-F98A-F887-9DAC7EB3E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445" y="2005297"/>
            <a:ext cx="11313660" cy="7376314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0" y="0"/>
            <a:ext cx="6352295" cy="10287000"/>
            <a:chOff x="0" y="0"/>
            <a:chExt cx="984137" cy="15937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84137" cy="1593725"/>
            </a:xfrm>
            <a:custGeom>
              <a:avLst/>
              <a:gdLst/>
              <a:ahLst/>
              <a:cxnLst/>
              <a:rect l="l" t="t" r="r" b="b"/>
              <a:pathLst>
                <a:path w="984137" h="1593725">
                  <a:moveTo>
                    <a:pt x="0" y="0"/>
                  </a:moveTo>
                  <a:lnTo>
                    <a:pt x="984137" y="0"/>
                  </a:lnTo>
                  <a:lnTo>
                    <a:pt x="984137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4"/>
              <a:stretch>
                <a:fillRect l="-4554" r="-4554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438046" y="490508"/>
            <a:ext cx="1849954" cy="1357658"/>
            <a:chOff x="0" y="0"/>
            <a:chExt cx="2466605" cy="1810211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2466605" cy="1810211"/>
              <a:chOff x="0" y="0"/>
              <a:chExt cx="787566" cy="57798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87566" cy="577985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577985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577985"/>
                    </a:lnTo>
                    <a:lnTo>
                      <a:pt x="0" y="57798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787566" cy="61608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319164" y="627374"/>
              <a:ext cx="1828278" cy="6126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253"/>
                </a:lnSpc>
              </a:pPr>
              <a:r>
                <a:rPr lang="en-US" sz="3319" spc="-212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02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 flipH="1">
            <a:off x="6542795" y="0"/>
            <a:ext cx="0" cy="1028700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15" name="Freeform 15"/>
          <p:cNvSpPr/>
          <p:nvPr/>
        </p:nvSpPr>
        <p:spPr>
          <a:xfrm>
            <a:off x="5177017" y="5870652"/>
            <a:ext cx="2350556" cy="457290"/>
          </a:xfrm>
          <a:custGeom>
            <a:avLst/>
            <a:gdLst/>
            <a:ahLst/>
            <a:cxnLst/>
            <a:rect l="l" t="t" r="r" b="b"/>
            <a:pathLst>
              <a:path w="2350556" h="457290">
                <a:moveTo>
                  <a:pt x="0" y="0"/>
                </a:moveTo>
                <a:lnTo>
                  <a:pt x="2350556" y="0"/>
                </a:lnTo>
                <a:lnTo>
                  <a:pt x="2350556" y="457290"/>
                </a:lnTo>
                <a:lnTo>
                  <a:pt x="0" y="4572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16" name="Group 16"/>
          <p:cNvGrpSpPr/>
          <p:nvPr/>
        </p:nvGrpSpPr>
        <p:grpSpPr>
          <a:xfrm>
            <a:off x="5466785" y="951841"/>
            <a:ext cx="2152019" cy="2149322"/>
            <a:chOff x="0" y="0"/>
            <a:chExt cx="567580" cy="56686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67580" cy="566868"/>
            </a:xfrm>
            <a:custGeom>
              <a:avLst/>
              <a:gdLst/>
              <a:ahLst/>
              <a:cxnLst/>
              <a:rect l="l" t="t" r="r" b="b"/>
              <a:pathLst>
                <a:path w="567580" h="566868">
                  <a:moveTo>
                    <a:pt x="161888" y="0"/>
                  </a:moveTo>
                  <a:lnTo>
                    <a:pt x="405691" y="0"/>
                  </a:lnTo>
                  <a:cubicBezTo>
                    <a:pt x="495100" y="0"/>
                    <a:pt x="567580" y="72480"/>
                    <a:pt x="567580" y="161888"/>
                  </a:cubicBezTo>
                  <a:lnTo>
                    <a:pt x="567580" y="404980"/>
                  </a:lnTo>
                  <a:cubicBezTo>
                    <a:pt x="567580" y="494389"/>
                    <a:pt x="495100" y="566868"/>
                    <a:pt x="405691" y="566868"/>
                  </a:cubicBezTo>
                  <a:lnTo>
                    <a:pt x="161888" y="566868"/>
                  </a:lnTo>
                  <a:cubicBezTo>
                    <a:pt x="72480" y="566868"/>
                    <a:pt x="0" y="494389"/>
                    <a:pt x="0" y="404980"/>
                  </a:cubicBezTo>
                  <a:lnTo>
                    <a:pt x="0" y="161888"/>
                  </a:lnTo>
                  <a:cubicBezTo>
                    <a:pt x="0" y="72480"/>
                    <a:pt x="72480" y="0"/>
                    <a:pt x="16188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28575"/>
              <a:ext cx="567580" cy="538293"/>
            </a:xfrm>
            <a:prstGeom prst="rect">
              <a:avLst/>
            </a:prstGeom>
          </p:spPr>
          <p:txBody>
            <a:bodyPr lIns="48445" tIns="48445" rIns="48445" bIns="48445" rtlCol="0" anchor="ctr"/>
            <a:lstStyle/>
            <a:p>
              <a:pPr marL="0" lvl="0" indent="0" algn="ctr">
                <a:lnSpc>
                  <a:spcPts val="246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684181" y="1217316"/>
            <a:ext cx="1717227" cy="1586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82"/>
              </a:lnSpc>
            </a:pPr>
            <a:r>
              <a:rPr lang="en-US" sz="1772" b="1" spc="-44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CLAIMS PAYOUT (R11.61M) VS PREMIUM (R0.69M)</a:t>
            </a: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233440E6-E7F3-C04A-36AC-76E846EE7299}"/>
              </a:ext>
            </a:extLst>
          </p:cNvPr>
          <p:cNvGrpSpPr/>
          <p:nvPr/>
        </p:nvGrpSpPr>
        <p:grpSpPr>
          <a:xfrm>
            <a:off x="408149" y="1536201"/>
            <a:ext cx="52740" cy="2339425"/>
            <a:chOff x="0" y="0"/>
            <a:chExt cx="12543" cy="537460"/>
          </a:xfrm>
          <a:solidFill>
            <a:schemeClr val="bg1"/>
          </a:solidFill>
        </p:grpSpPr>
        <p:sp>
          <p:nvSpPr>
            <p:cNvPr id="22" name="Freeform 3">
              <a:extLst>
                <a:ext uri="{FF2B5EF4-FFF2-40B4-BE49-F238E27FC236}">
                  <a16:creationId xmlns:a16="http://schemas.microsoft.com/office/drawing/2014/main" id="{23C77726-F452-E81D-F3E4-FB8978AE349E}"/>
                </a:ext>
              </a:extLst>
            </p:cNvPr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ZA">
                <a:solidFill>
                  <a:schemeClr val="bg1"/>
                </a:solidFill>
              </a:endParaRPr>
            </a:p>
          </p:txBody>
        </p:sp>
        <p:sp>
          <p:nvSpPr>
            <p:cNvPr id="23" name="TextBox 4">
              <a:extLst>
                <a:ext uri="{FF2B5EF4-FFF2-40B4-BE49-F238E27FC236}">
                  <a16:creationId xmlns:a16="http://schemas.microsoft.com/office/drawing/2014/main" id="{23EEECCB-E90F-BD62-EE12-A307EB641F49}"/>
                </a:ext>
              </a:extLst>
            </p:cNvPr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>
                <a:solidFill>
                  <a:schemeClr val="bg1"/>
                </a:solidFill>
              </a:endParaRPr>
            </a:p>
          </p:txBody>
        </p:sp>
      </p:grpSp>
      <p:sp>
        <p:nvSpPr>
          <p:cNvPr id="24" name="Freeform 6">
            <a:extLst>
              <a:ext uri="{FF2B5EF4-FFF2-40B4-BE49-F238E27FC236}">
                <a16:creationId xmlns:a16="http://schemas.microsoft.com/office/drawing/2014/main" id="{CA3E920E-62FE-BAB0-476E-E3BC834FF4B2}"/>
              </a:ext>
            </a:extLst>
          </p:cNvPr>
          <p:cNvSpPr/>
          <p:nvPr/>
        </p:nvSpPr>
        <p:spPr>
          <a:xfrm rot="-8687136">
            <a:off x="4864150" y="6576432"/>
            <a:ext cx="464040" cy="764801"/>
          </a:xfrm>
          <a:custGeom>
            <a:avLst/>
            <a:gdLst/>
            <a:ahLst/>
            <a:cxnLst/>
            <a:rect l="l" t="t" r="r" b="b"/>
            <a:pathLst>
              <a:path w="189150" h="228643">
                <a:moveTo>
                  <a:pt x="0" y="0"/>
                </a:moveTo>
                <a:lnTo>
                  <a:pt x="189150" y="0"/>
                </a:lnTo>
                <a:lnTo>
                  <a:pt x="189150" y="228644"/>
                </a:lnTo>
                <a:lnTo>
                  <a:pt x="0" y="2286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5" name="TextBox 20">
            <a:extLst>
              <a:ext uri="{FF2B5EF4-FFF2-40B4-BE49-F238E27FC236}">
                <a16:creationId xmlns:a16="http://schemas.microsoft.com/office/drawing/2014/main" id="{13A210B9-FC9E-6198-71E7-8E96DC59CDE2}"/>
              </a:ext>
            </a:extLst>
          </p:cNvPr>
          <p:cNvSpPr txBox="1"/>
          <p:nvPr/>
        </p:nvSpPr>
        <p:spPr>
          <a:xfrm>
            <a:off x="636216" y="1416557"/>
            <a:ext cx="3320812" cy="23621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596"/>
              </a:lnSpc>
            </a:pPr>
            <a:r>
              <a:rPr lang="en-US" sz="6000" spc="-626" dirty="0">
                <a:solidFill>
                  <a:schemeClr val="bg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Questions to Answer</a:t>
            </a:r>
          </a:p>
        </p:txBody>
      </p:sp>
      <p:sp>
        <p:nvSpPr>
          <p:cNvPr id="26" name="TextBox 21">
            <a:extLst>
              <a:ext uri="{FF2B5EF4-FFF2-40B4-BE49-F238E27FC236}">
                <a16:creationId xmlns:a16="http://schemas.microsoft.com/office/drawing/2014/main" id="{D1F7206A-4C2F-E78C-088C-8C0803E9EA9B}"/>
              </a:ext>
            </a:extLst>
          </p:cNvPr>
          <p:cNvSpPr txBox="1"/>
          <p:nvPr/>
        </p:nvSpPr>
        <p:spPr>
          <a:xfrm>
            <a:off x="147109" y="6585478"/>
            <a:ext cx="6352296" cy="2868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486"/>
              </a:lnSpc>
            </a:pPr>
            <a:endParaRPr lang="en-US" spc="-5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457200" algn="just">
              <a:lnSpc>
                <a:spcPts val="2486"/>
              </a:lnSpc>
              <a:buAutoNum type="arabicPeriod"/>
            </a:pPr>
            <a:r>
              <a:rPr lang="en-US" spc="-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What trends do you observe?</a:t>
            </a:r>
          </a:p>
          <a:p>
            <a:pPr marL="457200" lvl="0" indent="-457200" algn="just">
              <a:lnSpc>
                <a:spcPts val="2486"/>
              </a:lnSpc>
              <a:buAutoNum type="arabicPeriod"/>
            </a:pPr>
            <a:endParaRPr lang="en-US" spc="-5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2486"/>
              </a:lnSpc>
            </a:pPr>
            <a:r>
              <a:rPr lang="en-US" spc="-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2.   Which policy type is most risky?</a:t>
            </a:r>
          </a:p>
          <a:p>
            <a:pPr marL="0" lvl="0" indent="0" algn="just">
              <a:lnSpc>
                <a:spcPts val="2486"/>
              </a:lnSpc>
            </a:pPr>
            <a:endParaRPr lang="en-US" spc="-5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2486"/>
              </a:lnSpc>
            </a:pPr>
            <a:r>
              <a:rPr lang="en-US" spc="-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3.   Where is fraud most common?</a:t>
            </a:r>
          </a:p>
          <a:p>
            <a:pPr marL="0" lvl="0" indent="0" algn="just">
              <a:lnSpc>
                <a:spcPts val="2486"/>
              </a:lnSpc>
            </a:pPr>
            <a:endParaRPr lang="en-US" spc="-5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2486"/>
              </a:lnSpc>
            </a:pPr>
            <a:r>
              <a:rPr lang="en-US" spc="-5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4.   Which customers or segments are high-risk?</a:t>
            </a:r>
          </a:p>
          <a:p>
            <a:pPr marL="0" lvl="0" indent="0" algn="just">
              <a:lnSpc>
                <a:spcPts val="2486"/>
              </a:lnSpc>
            </a:pPr>
            <a:endParaRPr lang="en-US" sz="1400" spc="-5" dirty="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80500" y="536468"/>
            <a:ext cx="47625" cy="2040668"/>
            <a:chOff x="0" y="0"/>
            <a:chExt cx="12543" cy="5374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438046" y="0"/>
            <a:ext cx="1849954" cy="1848166"/>
            <a:chOff x="0" y="0"/>
            <a:chExt cx="2466605" cy="2464222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787566" cy="786805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805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19164" y="694049"/>
              <a:ext cx="1828278" cy="11999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425"/>
                </a:lnSpc>
              </a:pPr>
              <a:r>
                <a:rPr lang="en-US" sz="6557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04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 flipH="1">
            <a:off x="6542795" y="0"/>
            <a:ext cx="0" cy="1028700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14" name="AutoShape 14"/>
          <p:cNvSpPr/>
          <p:nvPr/>
        </p:nvSpPr>
        <p:spPr>
          <a:xfrm>
            <a:off x="0" y="5320770"/>
            <a:ext cx="6542795" cy="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Box 16"/>
          <p:cNvSpPr txBox="1"/>
          <p:nvPr/>
        </p:nvSpPr>
        <p:spPr>
          <a:xfrm>
            <a:off x="7880372" y="963789"/>
            <a:ext cx="7107541" cy="1262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3"/>
              </a:lnSpc>
            </a:pPr>
            <a:r>
              <a:rPr lang="en-US" sz="9799" spc="-627" dirty="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Key Trends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032894" y="6931889"/>
            <a:ext cx="10569306" cy="27480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just">
              <a:lnSpc>
                <a:spcPts val="3107"/>
              </a:lnSpc>
              <a:buFont typeface="Arial" panose="020B0604020202020204" pitchFamily="34" charset="0"/>
              <a:buChar char="•"/>
            </a:pPr>
            <a:r>
              <a:rPr lang="en-US" spc="-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Health and Auto policies dominate claims</a:t>
            </a:r>
          </a:p>
          <a:p>
            <a:pPr marL="342900" lvl="0" indent="-342900" algn="just">
              <a:lnSpc>
                <a:spcPts val="3107"/>
              </a:lnSpc>
              <a:buFont typeface="Arial" panose="020B0604020202020204" pitchFamily="34" charset="0"/>
              <a:buChar char="•"/>
            </a:pPr>
            <a:endParaRPr lang="en-US" spc="-6" dirty="0">
              <a:solidFill>
                <a:srgbClr val="3A58E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342900" algn="just">
              <a:lnSpc>
                <a:spcPts val="3107"/>
              </a:lnSpc>
              <a:buFont typeface="Arial" panose="020B0604020202020204" pitchFamily="34" charset="0"/>
              <a:buChar char="•"/>
            </a:pPr>
            <a:r>
              <a:rPr lang="en-US" spc="-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Claim activity is irregular throughout the year, with several months exceeding 25 claims. </a:t>
            </a:r>
          </a:p>
          <a:p>
            <a:pPr marL="342900" lvl="0" indent="-342900" algn="just">
              <a:lnSpc>
                <a:spcPts val="3107"/>
              </a:lnSpc>
              <a:buFont typeface="Arial" panose="020B0604020202020204" pitchFamily="34" charset="0"/>
              <a:buChar char="•"/>
            </a:pPr>
            <a:endParaRPr lang="en-US" spc="-6" dirty="0">
              <a:solidFill>
                <a:srgbClr val="3A58E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342900" algn="just">
              <a:lnSpc>
                <a:spcPts val="3107"/>
              </a:lnSpc>
              <a:buFont typeface="Arial" panose="020B0604020202020204" pitchFamily="34" charset="0"/>
              <a:buChar char="•"/>
            </a:pPr>
            <a:r>
              <a:rPr lang="en-US" spc="-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Customers between 25 and 60 dominate with most claims</a:t>
            </a:r>
          </a:p>
          <a:p>
            <a:pPr marL="342900" lvl="0" indent="-342900" algn="just">
              <a:lnSpc>
                <a:spcPts val="3107"/>
              </a:lnSpc>
              <a:buFont typeface="Arial" panose="020B0604020202020204" pitchFamily="34" charset="0"/>
              <a:buChar char="•"/>
            </a:pPr>
            <a:endParaRPr lang="en-US" spc="-6" dirty="0">
              <a:solidFill>
                <a:srgbClr val="3A58E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342900" algn="just">
              <a:lnSpc>
                <a:spcPts val="3107"/>
              </a:lnSpc>
              <a:buFont typeface="Arial" panose="020B0604020202020204" pitchFamily="34" charset="0"/>
              <a:buChar char="•"/>
            </a:pPr>
            <a:r>
              <a:rPr lang="en-US" spc="-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Claimed amounts are 17 times the premiums collected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6E3962-2A27-AAB5-2892-BF8C63C0E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14" y="668037"/>
            <a:ext cx="5922409" cy="38181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0AB5936-54F7-72CB-7D1C-F953C7B063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163" y="5829299"/>
            <a:ext cx="5922409" cy="4112995"/>
          </a:xfrm>
          <a:prstGeom prst="rect">
            <a:avLst/>
          </a:prstGeom>
        </p:spPr>
      </p:pic>
      <p:sp>
        <p:nvSpPr>
          <p:cNvPr id="18" name="AutoShape 13">
            <a:extLst>
              <a:ext uri="{FF2B5EF4-FFF2-40B4-BE49-F238E27FC236}">
                <a16:creationId xmlns:a16="http://schemas.microsoft.com/office/drawing/2014/main" id="{0315E5C8-9DB3-5D2F-DDED-D0E8C1BA8D7D}"/>
              </a:ext>
            </a:extLst>
          </p:cNvPr>
          <p:cNvSpPr/>
          <p:nvPr/>
        </p:nvSpPr>
        <p:spPr>
          <a:xfrm flipH="1">
            <a:off x="10666163" y="2741977"/>
            <a:ext cx="1" cy="3868814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19" name="AutoShape 13">
            <a:extLst>
              <a:ext uri="{FF2B5EF4-FFF2-40B4-BE49-F238E27FC236}">
                <a16:creationId xmlns:a16="http://schemas.microsoft.com/office/drawing/2014/main" id="{FCC188AE-45EA-283D-666C-3E6616EE62BF}"/>
              </a:ext>
            </a:extLst>
          </p:cNvPr>
          <p:cNvSpPr/>
          <p:nvPr/>
        </p:nvSpPr>
        <p:spPr>
          <a:xfrm flipH="1">
            <a:off x="14262626" y="2738034"/>
            <a:ext cx="1" cy="3868814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0F3F7F0-1172-D78F-CDFA-48850F347D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422" y="2801449"/>
            <a:ext cx="3322368" cy="398684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0CDD729-8D42-3E48-2DDF-FAEE27A0BC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751" y="2747636"/>
            <a:ext cx="3322367" cy="404065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79C5241-7E6F-9DA4-6EFB-C9561F3482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71740" y="3517403"/>
            <a:ext cx="3674880" cy="19376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938179" cy="10287000"/>
            <a:chOff x="0" y="0"/>
            <a:chExt cx="182733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7339" cy="2709333"/>
            </a:xfrm>
            <a:custGeom>
              <a:avLst/>
              <a:gdLst/>
              <a:ahLst/>
              <a:cxnLst/>
              <a:rect l="l" t="t" r="r" b="b"/>
              <a:pathLst>
                <a:path w="1827339" h="2709333">
                  <a:moveTo>
                    <a:pt x="0" y="0"/>
                  </a:moveTo>
                  <a:lnTo>
                    <a:pt x="1827339" y="0"/>
                  </a:lnTo>
                  <a:lnTo>
                    <a:pt x="1827339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27339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343219" y="4032536"/>
            <a:ext cx="3189919" cy="620584"/>
          </a:xfrm>
          <a:custGeom>
            <a:avLst/>
            <a:gdLst/>
            <a:ahLst/>
            <a:cxnLst/>
            <a:rect l="l" t="t" r="r" b="b"/>
            <a:pathLst>
              <a:path w="3189919" h="620584">
                <a:moveTo>
                  <a:pt x="0" y="0"/>
                </a:moveTo>
                <a:lnTo>
                  <a:pt x="3189919" y="0"/>
                </a:lnTo>
                <a:lnTo>
                  <a:pt x="3189919" y="620584"/>
                </a:lnTo>
                <a:lnTo>
                  <a:pt x="0" y="6205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6" name="Group 6"/>
          <p:cNvGrpSpPr/>
          <p:nvPr/>
        </p:nvGrpSpPr>
        <p:grpSpPr>
          <a:xfrm>
            <a:off x="5459316" y="1438329"/>
            <a:ext cx="2920486" cy="2916826"/>
            <a:chOff x="0" y="0"/>
            <a:chExt cx="567580" cy="5668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67580" cy="566868"/>
            </a:xfrm>
            <a:custGeom>
              <a:avLst/>
              <a:gdLst/>
              <a:ahLst/>
              <a:cxnLst/>
              <a:rect l="l" t="t" r="r" b="b"/>
              <a:pathLst>
                <a:path w="567580" h="566868">
                  <a:moveTo>
                    <a:pt x="119291" y="0"/>
                  </a:moveTo>
                  <a:lnTo>
                    <a:pt x="448289" y="0"/>
                  </a:lnTo>
                  <a:cubicBezTo>
                    <a:pt x="514171" y="0"/>
                    <a:pt x="567580" y="53408"/>
                    <a:pt x="567580" y="119291"/>
                  </a:cubicBezTo>
                  <a:lnTo>
                    <a:pt x="567580" y="447578"/>
                  </a:lnTo>
                  <a:cubicBezTo>
                    <a:pt x="567580" y="479216"/>
                    <a:pt x="555012" y="509558"/>
                    <a:pt x="532640" y="531929"/>
                  </a:cubicBezTo>
                  <a:cubicBezTo>
                    <a:pt x="510269" y="554300"/>
                    <a:pt x="479927" y="566868"/>
                    <a:pt x="448289" y="566868"/>
                  </a:cubicBezTo>
                  <a:lnTo>
                    <a:pt x="119291" y="566868"/>
                  </a:lnTo>
                  <a:cubicBezTo>
                    <a:pt x="87653" y="566868"/>
                    <a:pt x="57311" y="554300"/>
                    <a:pt x="34939" y="531929"/>
                  </a:cubicBezTo>
                  <a:cubicBezTo>
                    <a:pt x="12568" y="509558"/>
                    <a:pt x="0" y="479216"/>
                    <a:pt x="0" y="447578"/>
                  </a:cubicBezTo>
                  <a:lnTo>
                    <a:pt x="0" y="119291"/>
                  </a:lnTo>
                  <a:cubicBezTo>
                    <a:pt x="0" y="53408"/>
                    <a:pt x="53408" y="0"/>
                    <a:pt x="11929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567580" cy="538293"/>
            </a:xfrm>
            <a:prstGeom prst="rect">
              <a:avLst/>
            </a:prstGeom>
          </p:spPr>
          <p:txBody>
            <a:bodyPr lIns="65745" tIns="65745" rIns="65745" bIns="65745" rtlCol="0" anchor="ctr"/>
            <a:lstStyle/>
            <a:p>
              <a:pPr marL="0" lvl="0" indent="0" algn="ctr">
                <a:lnSpc>
                  <a:spcPts val="246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708475" y="2199673"/>
            <a:ext cx="2459408" cy="807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24"/>
              </a:lnSpc>
            </a:pPr>
            <a:r>
              <a:rPr lang="en-US" sz="6085" b="1" spc="-182" dirty="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130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40959" y="3109696"/>
            <a:ext cx="1957200" cy="908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15"/>
              </a:lnSpc>
            </a:pPr>
            <a:r>
              <a:rPr lang="en-US" sz="1725" spc="-4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HEALTH &amp; AUTO INSURANCE CLAIMS</a:t>
            </a:r>
          </a:p>
        </p:txBody>
      </p:sp>
      <p:sp>
        <p:nvSpPr>
          <p:cNvPr id="11" name="Freeform 11"/>
          <p:cNvSpPr/>
          <p:nvPr/>
        </p:nvSpPr>
        <p:spPr>
          <a:xfrm>
            <a:off x="965773" y="4076555"/>
            <a:ext cx="1027410" cy="953821"/>
          </a:xfrm>
          <a:custGeom>
            <a:avLst/>
            <a:gdLst/>
            <a:ahLst/>
            <a:cxnLst/>
            <a:rect l="l" t="t" r="r" b="b"/>
            <a:pathLst>
              <a:path w="1027410" h="953821">
                <a:moveTo>
                  <a:pt x="0" y="0"/>
                </a:moveTo>
                <a:lnTo>
                  <a:pt x="1027410" y="0"/>
                </a:lnTo>
                <a:lnTo>
                  <a:pt x="1027410" y="953821"/>
                </a:lnTo>
                <a:lnTo>
                  <a:pt x="0" y="9538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2" name="TextBox 12"/>
          <p:cNvSpPr txBox="1"/>
          <p:nvPr/>
        </p:nvSpPr>
        <p:spPr>
          <a:xfrm>
            <a:off x="1028700" y="5561612"/>
            <a:ext cx="4378886" cy="454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95"/>
              </a:lnSpc>
            </a:pPr>
            <a:r>
              <a:rPr lang="en-US" sz="1803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HEALTH AND AUTO INSURANCE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6175957"/>
            <a:ext cx="4378886" cy="481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871"/>
              </a:lnSpc>
            </a:pPr>
            <a:r>
              <a:rPr lang="en-US" sz="153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Leads with 130 claims, both representing the highest volume across all policy types.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28700" y="7011400"/>
            <a:ext cx="4378886" cy="954967"/>
            <a:chOff x="0" y="-180975"/>
            <a:chExt cx="5838515" cy="1273289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180975"/>
              <a:ext cx="5838515" cy="5864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95"/>
                </a:lnSpc>
              </a:pPr>
              <a:r>
                <a:rPr lang="en-US" sz="1803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LIFE INSURANCE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450343"/>
              <a:ext cx="5838515" cy="641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 algn="just">
                <a:lnSpc>
                  <a:spcPts val="1871"/>
                </a:lnSpc>
              </a:pPr>
              <a:r>
                <a:rPr lang="en-US" sz="153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101 claims recorded, third highest among policy categories.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28700" y="8320990"/>
            <a:ext cx="4378886" cy="954966"/>
            <a:chOff x="0" y="-180975"/>
            <a:chExt cx="5838515" cy="1273289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180975"/>
              <a:ext cx="5838515" cy="5864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95"/>
                </a:lnSpc>
              </a:pPr>
              <a:r>
                <a:rPr lang="en-US" sz="1803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HOME INSURANCE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450343"/>
              <a:ext cx="5838515" cy="641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1871"/>
                </a:lnSpc>
              </a:pPr>
              <a:r>
                <a:rPr lang="en-US" sz="153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91 claims recorded, fourth highest among policy categories.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345491" y="1381872"/>
            <a:ext cx="7522405" cy="7545430"/>
            <a:chOff x="0" y="-47625"/>
            <a:chExt cx="10029873" cy="10060573"/>
          </a:xfrm>
        </p:grpSpPr>
        <p:sp>
          <p:nvSpPr>
            <p:cNvPr id="21" name="TextBox 21"/>
            <p:cNvSpPr txBox="1"/>
            <p:nvPr/>
          </p:nvSpPr>
          <p:spPr>
            <a:xfrm>
              <a:off x="1033544" y="-47625"/>
              <a:ext cx="7126880" cy="438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690"/>
                </a:lnSpc>
              </a:pPr>
              <a:r>
                <a:rPr lang="en-US" sz="1921" b="1" spc="-48" dirty="0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HEALTH  INSURANCE: 130 CLAIMS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33544" y="1720890"/>
              <a:ext cx="8996329" cy="1259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452"/>
                </a:lnSpc>
              </a:pPr>
              <a:r>
                <a:rPr lang="en-US" sz="1752" spc="-43" dirty="0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Health insurance leads jointly with auto all policy types with 130 claims, indicating high </a:t>
              </a:r>
              <a:r>
                <a:rPr lang="en-US" sz="1752" spc="-43" dirty="0" err="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utilisation</a:t>
              </a:r>
              <a:r>
                <a:rPr lang="en-US" sz="1752" spc="-43" dirty="0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 and potential need for enhanced risk assessment in this category.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33544" y="3494660"/>
              <a:ext cx="7126880" cy="4270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690"/>
                </a:lnSpc>
              </a:pPr>
              <a:r>
                <a:rPr lang="en-US" sz="1921" b="1" spc="-48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AUTO INSURANCE: 131 CLAIMS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3544" y="5263173"/>
              <a:ext cx="8996329" cy="1259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452"/>
                </a:lnSpc>
              </a:pPr>
              <a:r>
                <a:rPr lang="en-US" sz="1752" spc="-43" dirty="0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Auto insurance also with 130 claims, proves to be a risky policy type. Together with Health, these two categories account for the majority of all claims and require focused attention.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3544" y="7036944"/>
              <a:ext cx="7126880" cy="4270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690"/>
                </a:lnSpc>
              </a:pPr>
              <a:r>
                <a:rPr lang="en-US" sz="1921" b="1" spc="-48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HOME INSURANCE: FRAUD RISK ALERT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33544" y="8805458"/>
              <a:ext cx="8996329" cy="12074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452"/>
                </a:lnSpc>
              </a:pPr>
              <a:r>
                <a:rPr lang="en-US" sz="1752" spc="-43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While Home insurance has lower claim volume, it records the highest fraud cases at 20 incidents. This signals a critical need for enhanced fraud detection and controls in this segment.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1268633"/>
              <a:ext cx="643052" cy="2815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563"/>
                </a:lnSpc>
              </a:pPr>
              <a:r>
                <a:rPr lang="en-US" sz="1579" spc="-47">
                  <a:solidFill>
                    <a:srgbClr val="3A58E4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4810918"/>
              <a:ext cx="643052" cy="2815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563"/>
                </a:lnSpc>
              </a:pPr>
              <a:r>
                <a:rPr lang="en-US" sz="1579" spc="-47">
                  <a:solidFill>
                    <a:srgbClr val="3A58E4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8353202"/>
              <a:ext cx="643052" cy="2815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563"/>
                </a:lnSpc>
              </a:pPr>
              <a:r>
                <a:rPr lang="en-US" sz="1579" spc="-47">
                  <a:solidFill>
                    <a:srgbClr val="3A58E4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03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28700" y="1196251"/>
            <a:ext cx="24226" cy="1038034"/>
            <a:chOff x="0" y="0"/>
            <a:chExt cx="12543" cy="53746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44711" y="1228300"/>
            <a:ext cx="3348916" cy="11687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497"/>
              </a:lnSpc>
            </a:pPr>
            <a:r>
              <a:rPr lang="en-US" sz="4589" spc="-293" dirty="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Most Risky Policy Types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741311" y="0"/>
            <a:ext cx="546689" cy="7173190"/>
            <a:chOff x="0" y="0"/>
            <a:chExt cx="143984" cy="1889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984" cy="1889235"/>
            </a:xfrm>
            <a:custGeom>
              <a:avLst/>
              <a:gdLst/>
              <a:ahLst/>
              <a:cxnLst/>
              <a:rect l="l" t="t" r="r" b="b"/>
              <a:pathLst>
                <a:path w="143984" h="1889235">
                  <a:moveTo>
                    <a:pt x="0" y="0"/>
                  </a:moveTo>
                  <a:lnTo>
                    <a:pt x="143984" y="0"/>
                  </a:lnTo>
                  <a:lnTo>
                    <a:pt x="143984" y="1889235"/>
                  </a:lnTo>
                  <a:lnTo>
                    <a:pt x="0" y="1889235"/>
                  </a:ln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3984" cy="1927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H="1">
            <a:off x="4442685" y="0"/>
            <a:ext cx="0" cy="1028700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6" name="AutoShape 6"/>
          <p:cNvSpPr/>
          <p:nvPr/>
        </p:nvSpPr>
        <p:spPr>
          <a:xfrm>
            <a:off x="8872264" y="0"/>
            <a:ext cx="0" cy="7163665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7" name="AutoShape 7"/>
          <p:cNvSpPr/>
          <p:nvPr/>
        </p:nvSpPr>
        <p:spPr>
          <a:xfrm>
            <a:off x="13301844" y="0"/>
            <a:ext cx="0" cy="7163665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8" name="AutoShape 8"/>
          <p:cNvSpPr/>
          <p:nvPr/>
        </p:nvSpPr>
        <p:spPr>
          <a:xfrm>
            <a:off x="0" y="7173190"/>
            <a:ext cx="18288000" cy="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grpSp>
        <p:nvGrpSpPr>
          <p:cNvPr id="9" name="Group 9"/>
          <p:cNvGrpSpPr/>
          <p:nvPr/>
        </p:nvGrpSpPr>
        <p:grpSpPr>
          <a:xfrm>
            <a:off x="16305" y="9608"/>
            <a:ext cx="1197405" cy="1196165"/>
            <a:chOff x="0" y="0"/>
            <a:chExt cx="1596540" cy="1594886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596540" cy="1594886"/>
              <a:chOff x="0" y="0"/>
              <a:chExt cx="787566" cy="78675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206583" y="454809"/>
              <a:ext cx="1183375" cy="770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56"/>
                </a:lnSpc>
              </a:pPr>
              <a:r>
                <a:rPr lang="en-US" sz="4241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442685" y="9608"/>
            <a:ext cx="1197405" cy="1196165"/>
            <a:chOff x="0" y="0"/>
            <a:chExt cx="1596540" cy="1594886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596540" cy="1594886"/>
              <a:chOff x="0" y="0"/>
              <a:chExt cx="787566" cy="78675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206583" y="454809"/>
              <a:ext cx="1183375" cy="770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56"/>
                </a:lnSpc>
              </a:pPr>
              <a:r>
                <a:rPr lang="en-US" sz="4241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02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875845" y="9608"/>
            <a:ext cx="1197405" cy="1196165"/>
            <a:chOff x="0" y="0"/>
            <a:chExt cx="1596540" cy="1594886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1596540" cy="1594886"/>
              <a:chOff x="0" y="0"/>
              <a:chExt cx="787566" cy="78675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206583" y="454809"/>
              <a:ext cx="1183375" cy="770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56"/>
                </a:lnSpc>
              </a:pPr>
              <a:r>
                <a:rPr lang="en-US" sz="4241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309005" y="9608"/>
            <a:ext cx="1197405" cy="1196165"/>
            <a:chOff x="0" y="0"/>
            <a:chExt cx="1596540" cy="1594886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1596540" cy="1594886"/>
              <a:chOff x="0" y="0"/>
              <a:chExt cx="787566" cy="78675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206583" y="454809"/>
              <a:ext cx="1183375" cy="770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56"/>
                </a:lnSpc>
              </a:pPr>
              <a:r>
                <a:rPr lang="en-US" sz="4241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04</a:t>
              </a:r>
            </a:p>
          </p:txBody>
        </p:sp>
      </p:grpSp>
      <p:sp>
        <p:nvSpPr>
          <p:cNvPr id="29" name="Freeform 29"/>
          <p:cNvSpPr/>
          <p:nvPr/>
        </p:nvSpPr>
        <p:spPr>
          <a:xfrm>
            <a:off x="10645460" y="1691488"/>
            <a:ext cx="840363" cy="1282660"/>
          </a:xfrm>
          <a:custGeom>
            <a:avLst/>
            <a:gdLst/>
            <a:ahLst/>
            <a:cxnLst/>
            <a:rect l="l" t="t" r="r" b="b"/>
            <a:pathLst>
              <a:path w="840363" h="1282660">
                <a:moveTo>
                  <a:pt x="0" y="0"/>
                </a:moveTo>
                <a:lnTo>
                  <a:pt x="840364" y="0"/>
                </a:lnTo>
                <a:lnTo>
                  <a:pt x="840364" y="1282660"/>
                </a:lnTo>
                <a:lnTo>
                  <a:pt x="0" y="12826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30" name="Freeform 30"/>
          <p:cNvSpPr/>
          <p:nvPr/>
        </p:nvSpPr>
        <p:spPr>
          <a:xfrm rot="-5400000">
            <a:off x="15152153" y="1847512"/>
            <a:ext cx="778098" cy="899435"/>
          </a:xfrm>
          <a:custGeom>
            <a:avLst/>
            <a:gdLst/>
            <a:ahLst/>
            <a:cxnLst/>
            <a:rect l="l" t="t" r="r" b="b"/>
            <a:pathLst>
              <a:path w="778098" h="899435">
                <a:moveTo>
                  <a:pt x="0" y="0"/>
                </a:moveTo>
                <a:lnTo>
                  <a:pt x="778098" y="0"/>
                </a:lnTo>
                <a:lnTo>
                  <a:pt x="778098" y="899435"/>
                </a:lnTo>
                <a:lnTo>
                  <a:pt x="0" y="899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31" name="Freeform 31"/>
          <p:cNvSpPr/>
          <p:nvPr/>
        </p:nvSpPr>
        <p:spPr>
          <a:xfrm>
            <a:off x="1746214" y="1781690"/>
            <a:ext cx="979815" cy="830351"/>
          </a:xfrm>
          <a:custGeom>
            <a:avLst/>
            <a:gdLst/>
            <a:ahLst/>
            <a:cxnLst/>
            <a:rect l="l" t="t" r="r" b="b"/>
            <a:pathLst>
              <a:path w="979815" h="830351">
                <a:moveTo>
                  <a:pt x="0" y="0"/>
                </a:moveTo>
                <a:lnTo>
                  <a:pt x="979815" y="0"/>
                </a:lnTo>
                <a:lnTo>
                  <a:pt x="979815" y="830351"/>
                </a:lnTo>
                <a:lnTo>
                  <a:pt x="0" y="8303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32" name="Group 32"/>
          <p:cNvGrpSpPr/>
          <p:nvPr/>
        </p:nvGrpSpPr>
        <p:grpSpPr>
          <a:xfrm>
            <a:off x="1028700" y="8125800"/>
            <a:ext cx="22757" cy="975106"/>
            <a:chOff x="0" y="0"/>
            <a:chExt cx="12543" cy="53746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-9525" y="7173190"/>
            <a:ext cx="546689" cy="3113810"/>
            <a:chOff x="0" y="0"/>
            <a:chExt cx="143984" cy="82009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43984" cy="820098"/>
            </a:xfrm>
            <a:custGeom>
              <a:avLst/>
              <a:gdLst/>
              <a:ahLst/>
              <a:cxnLst/>
              <a:rect l="l" t="t" r="r" b="b"/>
              <a:pathLst>
                <a:path w="143984" h="820098">
                  <a:moveTo>
                    <a:pt x="0" y="0"/>
                  </a:moveTo>
                  <a:lnTo>
                    <a:pt x="143984" y="0"/>
                  </a:lnTo>
                  <a:lnTo>
                    <a:pt x="143984" y="820098"/>
                  </a:lnTo>
                  <a:lnTo>
                    <a:pt x="0" y="820098"/>
                  </a:lnTo>
                  <a:close/>
                </a:path>
              </a:pathLst>
            </a:custGeom>
            <a:gradFill rotWithShape="1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ZA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43984" cy="858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6145572" y="1650717"/>
            <a:ext cx="1097485" cy="1475191"/>
          </a:xfrm>
          <a:custGeom>
            <a:avLst/>
            <a:gdLst/>
            <a:ahLst/>
            <a:cxnLst/>
            <a:rect l="l" t="t" r="r" b="b"/>
            <a:pathLst>
              <a:path w="1097485" h="1475191">
                <a:moveTo>
                  <a:pt x="0" y="0"/>
                </a:moveTo>
                <a:lnTo>
                  <a:pt x="1097485" y="0"/>
                </a:lnTo>
                <a:lnTo>
                  <a:pt x="1097485" y="1475191"/>
                </a:lnTo>
                <a:lnTo>
                  <a:pt x="0" y="14751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39" name="TextBox 39"/>
          <p:cNvSpPr txBox="1"/>
          <p:nvPr/>
        </p:nvSpPr>
        <p:spPr>
          <a:xfrm>
            <a:off x="562973" y="4475524"/>
            <a:ext cx="3336787" cy="18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35"/>
              </a:lnSpc>
            </a:pPr>
            <a:r>
              <a:rPr lang="en-US" sz="1873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KwaZulu-Natal leads with 14 confirmed fraud cases, representing the highest concentration of fraudulent claims across all regions analyzed.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989081" y="4475524"/>
            <a:ext cx="3336787" cy="18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35"/>
              </a:lnSpc>
            </a:pPr>
            <a:r>
              <a:rPr lang="en-US" sz="1873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Free State recorded 11 fraud cases, ranking as the second highest region requiring enhanced monitoring and fraud prevention measures.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415189" y="4475524"/>
            <a:ext cx="3336787" cy="18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35"/>
              </a:lnSpc>
            </a:pPr>
            <a:r>
              <a:rPr lang="en-US" sz="1873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Western Cape accounts for 10 fraud cases, completing the top three high-risk regions that demand targeted intervention strategies.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844769" y="4475524"/>
            <a:ext cx="3336787" cy="18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35"/>
              </a:lnSpc>
            </a:pPr>
            <a:r>
              <a:rPr lang="en-US" sz="1873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Eastern Cape, Gauteng, and North West show comparatively lower fraud levels, indicating more stable risk profiles in these regions.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08883" y="8163942"/>
            <a:ext cx="2762082" cy="987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16"/>
              </a:lnSpc>
            </a:pPr>
            <a:r>
              <a:rPr lang="en-US" sz="3894" spc="-249" dirty="0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Fraud Analysis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989081" y="7753829"/>
            <a:ext cx="7762895" cy="1347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60"/>
              </a:lnSpc>
            </a:pPr>
            <a:r>
              <a:rPr lang="en-US" sz="1900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Fraud is concentrated in specific high-risk regions rather than evenly distributed. Targeted fraud detection and prevention efforts should prioritize KwaZulu-Natal, Free State, and Western Cape to maximize impact.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12270" y="3090400"/>
            <a:ext cx="3438193" cy="82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3"/>
              </a:lnSpc>
              <a:spcBef>
                <a:spcPct val="0"/>
              </a:spcBef>
            </a:pPr>
            <a:r>
              <a:rPr lang="en-US" sz="2388" b="1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KWAZULU-NATAL: 14 FRAUD CASES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938378" y="3090400"/>
            <a:ext cx="3438193" cy="82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3"/>
              </a:lnSpc>
              <a:spcBef>
                <a:spcPct val="0"/>
              </a:spcBef>
            </a:pPr>
            <a:r>
              <a:rPr lang="en-US" sz="2388" b="1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FREE STATE: 11 FRAUD CASES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364486" y="3090400"/>
            <a:ext cx="3438193" cy="82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3"/>
              </a:lnSpc>
            </a:pPr>
            <a:r>
              <a:rPr lang="en-US" sz="2388" b="1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WESTERN CAPE: 10 FRAUD CASES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794066" y="3090400"/>
            <a:ext cx="3438193" cy="82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3"/>
              </a:lnSpc>
            </a:pPr>
            <a:r>
              <a:rPr lang="en-US" sz="2388" b="1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OTHER REGIONS: LOWER FRAUD LEVELS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56766" y="1206794"/>
            <a:ext cx="5217559" cy="2521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80"/>
              </a:lnSpc>
            </a:pPr>
            <a:r>
              <a:rPr lang="en-US" sz="6714" spc="-429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High-Risk Customer Segments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1358088"/>
            <a:ext cx="47625" cy="2040668"/>
            <a:chOff x="0" y="0"/>
            <a:chExt cx="12543" cy="5374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4312874"/>
            <a:ext cx="8172450" cy="379246"/>
            <a:chOff x="0" y="0"/>
            <a:chExt cx="10896600" cy="505662"/>
          </a:xfrm>
        </p:grpSpPr>
        <p:sp>
          <p:nvSpPr>
            <p:cNvPr id="7" name="TextBox 7"/>
            <p:cNvSpPr txBox="1"/>
            <p:nvPr/>
          </p:nvSpPr>
          <p:spPr>
            <a:xfrm>
              <a:off x="0" y="-49117"/>
              <a:ext cx="10820400" cy="5547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6"/>
                </a:lnSpc>
              </a:pPr>
              <a:r>
                <a:rPr lang="en-US" sz="2368" b="1" spc="-59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SUMMARY OF SEGMENTS WITH ELEVATED RISK EXPOSURE</a:t>
              </a:r>
            </a:p>
          </p:txBody>
        </p:sp>
        <p:sp>
          <p:nvSpPr>
            <p:cNvPr id="8" name="Freeform 8"/>
            <p:cNvSpPr/>
            <p:nvPr/>
          </p:nvSpPr>
          <p:spPr>
            <a:xfrm rot="-8687136">
              <a:off x="10579580" y="44820"/>
              <a:ext cx="252200" cy="304858"/>
            </a:xfrm>
            <a:custGeom>
              <a:avLst/>
              <a:gdLst/>
              <a:ahLst/>
              <a:cxnLst/>
              <a:rect l="l" t="t" r="r" b="b"/>
              <a:pathLst>
                <a:path w="252200" h="304858">
                  <a:moveTo>
                    <a:pt x="0" y="0"/>
                  </a:moveTo>
                  <a:lnTo>
                    <a:pt x="252200" y="0"/>
                  </a:lnTo>
                  <a:lnTo>
                    <a:pt x="252200" y="304857"/>
                  </a:lnTo>
                  <a:lnTo>
                    <a:pt x="0" y="304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438046" y="129"/>
            <a:ext cx="1849954" cy="1848037"/>
            <a:chOff x="0" y="0"/>
            <a:chExt cx="2466605" cy="246405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2466605" cy="2464050"/>
              <a:chOff x="0" y="0"/>
              <a:chExt cx="787566" cy="78675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319164" y="694049"/>
              <a:ext cx="1828278" cy="1199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421"/>
                </a:lnSpc>
              </a:pPr>
              <a:r>
                <a:rPr lang="en-US" sz="6552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08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9695736" y="2552764"/>
            <a:ext cx="7384252" cy="7057345"/>
          </a:xfrm>
          <a:custGeom>
            <a:avLst/>
            <a:gdLst/>
            <a:ahLst/>
            <a:cxnLst/>
            <a:rect l="l" t="t" r="r" b="b"/>
            <a:pathLst>
              <a:path w="7384252" h="7057345">
                <a:moveTo>
                  <a:pt x="0" y="0"/>
                </a:moveTo>
                <a:lnTo>
                  <a:pt x="7384252" y="0"/>
                </a:lnTo>
                <a:lnTo>
                  <a:pt x="7384252" y="7057345"/>
                </a:lnTo>
                <a:lnTo>
                  <a:pt x="0" y="70573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5" name="TextBox 15"/>
          <p:cNvSpPr txBox="1"/>
          <p:nvPr/>
        </p:nvSpPr>
        <p:spPr>
          <a:xfrm>
            <a:off x="1870201" y="5231495"/>
            <a:ext cx="7273799" cy="785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88"/>
              </a:lnSpc>
            </a:pPr>
            <a:r>
              <a:rPr lang="en-US" sz="2206" spc="-5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Age 25-60 years: Major claim contributors driving 457 total claims across the portfolio.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94014" y="6332213"/>
            <a:ext cx="7273799" cy="785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88"/>
              </a:lnSpc>
            </a:pPr>
            <a:r>
              <a:rPr lang="en-US" sz="2206" spc="-5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Policy Types: Health, Auto, Life show high claim volume; Home insurance has highest fraud cases (20).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86870" y="7431830"/>
            <a:ext cx="7273799" cy="785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88"/>
              </a:lnSpc>
            </a:pPr>
            <a:r>
              <a:rPr lang="en-US" sz="2206" spc="-5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Regions: KwaZulu-Natal (14), Free State (11), Western Cape (10) show concentrated fraud incidence.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94014" y="8531447"/>
            <a:ext cx="7273799" cy="785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88"/>
              </a:lnSpc>
            </a:pPr>
            <a:r>
              <a:rPr lang="en-US" sz="2206" spc="-5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Combined Risk: Intersection of age, policy type, and region factors creates highest exposure levels.</a:t>
            </a:r>
          </a:p>
        </p:txBody>
      </p:sp>
      <p:sp>
        <p:nvSpPr>
          <p:cNvPr id="19" name="Freeform 19"/>
          <p:cNvSpPr/>
          <p:nvPr/>
        </p:nvSpPr>
        <p:spPr>
          <a:xfrm>
            <a:off x="1052512" y="5400430"/>
            <a:ext cx="489071" cy="489071"/>
          </a:xfrm>
          <a:custGeom>
            <a:avLst/>
            <a:gdLst/>
            <a:ahLst/>
            <a:cxnLst/>
            <a:rect l="l" t="t" r="r" b="b"/>
            <a:pathLst>
              <a:path w="489071" h="489071">
                <a:moveTo>
                  <a:pt x="0" y="0"/>
                </a:moveTo>
                <a:lnTo>
                  <a:pt x="489072" y="0"/>
                </a:lnTo>
                <a:lnTo>
                  <a:pt x="489072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0" name="Freeform 20"/>
          <p:cNvSpPr/>
          <p:nvPr/>
        </p:nvSpPr>
        <p:spPr>
          <a:xfrm>
            <a:off x="1076325" y="6501148"/>
            <a:ext cx="489071" cy="489071"/>
          </a:xfrm>
          <a:custGeom>
            <a:avLst/>
            <a:gdLst/>
            <a:ahLst/>
            <a:cxnLst/>
            <a:rect l="l" t="t" r="r" b="b"/>
            <a:pathLst>
              <a:path w="489071" h="489071">
                <a:moveTo>
                  <a:pt x="0" y="0"/>
                </a:moveTo>
                <a:lnTo>
                  <a:pt x="489071" y="0"/>
                </a:lnTo>
                <a:lnTo>
                  <a:pt x="489071" y="489072"/>
                </a:lnTo>
                <a:lnTo>
                  <a:pt x="0" y="4890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1" name="Freeform 21"/>
          <p:cNvSpPr/>
          <p:nvPr/>
        </p:nvSpPr>
        <p:spPr>
          <a:xfrm>
            <a:off x="1069181" y="7600765"/>
            <a:ext cx="489071" cy="489071"/>
          </a:xfrm>
          <a:custGeom>
            <a:avLst/>
            <a:gdLst/>
            <a:ahLst/>
            <a:cxnLst/>
            <a:rect l="l" t="t" r="r" b="b"/>
            <a:pathLst>
              <a:path w="489071" h="489071">
                <a:moveTo>
                  <a:pt x="0" y="0"/>
                </a:moveTo>
                <a:lnTo>
                  <a:pt x="489071" y="0"/>
                </a:lnTo>
                <a:lnTo>
                  <a:pt x="489071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2" name="Freeform 22"/>
          <p:cNvSpPr/>
          <p:nvPr/>
        </p:nvSpPr>
        <p:spPr>
          <a:xfrm>
            <a:off x="1076325" y="8702987"/>
            <a:ext cx="489071" cy="489071"/>
          </a:xfrm>
          <a:custGeom>
            <a:avLst/>
            <a:gdLst/>
            <a:ahLst/>
            <a:cxnLst/>
            <a:rect l="l" t="t" r="r" b="b"/>
            <a:pathLst>
              <a:path w="489071" h="489071">
                <a:moveTo>
                  <a:pt x="0" y="0"/>
                </a:moveTo>
                <a:lnTo>
                  <a:pt x="489071" y="0"/>
                </a:lnTo>
                <a:lnTo>
                  <a:pt x="489071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38046" y="210896"/>
            <a:ext cx="1849954" cy="1637270"/>
            <a:chOff x="0" y="0"/>
            <a:chExt cx="2466605" cy="2183027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66605" cy="2183027"/>
              <a:chOff x="0" y="0"/>
              <a:chExt cx="787566" cy="69702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7566" cy="697022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697022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697022"/>
                    </a:lnTo>
                    <a:lnTo>
                      <a:pt x="0" y="69702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787566" cy="7351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319164" y="665474"/>
              <a:ext cx="1828278" cy="9473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042"/>
                </a:lnSpc>
              </a:pPr>
              <a:r>
                <a:rPr lang="en-US" sz="5145" spc="-32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05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545788" y="3062727"/>
            <a:ext cx="7196424" cy="379246"/>
            <a:chOff x="0" y="0"/>
            <a:chExt cx="9595232" cy="505662"/>
          </a:xfrm>
        </p:grpSpPr>
        <p:sp>
          <p:nvSpPr>
            <p:cNvPr id="8" name="TextBox 8"/>
            <p:cNvSpPr txBox="1"/>
            <p:nvPr/>
          </p:nvSpPr>
          <p:spPr>
            <a:xfrm>
              <a:off x="0" y="79704"/>
              <a:ext cx="9378912" cy="425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04"/>
                </a:lnSpc>
              </a:pPr>
              <a:r>
                <a:rPr lang="en-US" sz="1860" b="1" spc="-46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KEY FINANCIAL FIGURES SHOWING PROFITABILITY CHALLENGES</a:t>
              </a:r>
            </a:p>
          </p:txBody>
        </p:sp>
        <p:sp>
          <p:nvSpPr>
            <p:cNvPr id="9" name="Freeform 9"/>
            <p:cNvSpPr/>
            <p:nvPr/>
          </p:nvSpPr>
          <p:spPr>
            <a:xfrm rot="-8687136">
              <a:off x="9278212" y="44820"/>
              <a:ext cx="252200" cy="304858"/>
            </a:xfrm>
            <a:custGeom>
              <a:avLst/>
              <a:gdLst/>
              <a:ahLst/>
              <a:cxnLst/>
              <a:rect l="l" t="t" r="r" b="b"/>
              <a:pathLst>
                <a:path w="252200" h="304858">
                  <a:moveTo>
                    <a:pt x="0" y="0"/>
                  </a:moveTo>
                  <a:lnTo>
                    <a:pt x="252200" y="0"/>
                  </a:lnTo>
                  <a:lnTo>
                    <a:pt x="252200" y="304857"/>
                  </a:lnTo>
                  <a:lnTo>
                    <a:pt x="0" y="304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63921" y="4926041"/>
            <a:ext cx="3746706" cy="3746706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gradFill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0108" tIns="40108" rIns="40108" bIns="40108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34452" y="4926041"/>
            <a:ext cx="3746706" cy="374670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0108" tIns="40108" rIns="40108" bIns="40108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205912" y="4926041"/>
            <a:ext cx="3746706" cy="3746706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gradFill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0108" tIns="40108" rIns="40108" bIns="40108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077373" y="4926041"/>
            <a:ext cx="3746706" cy="3746706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ZA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0108" tIns="40108" rIns="40108" bIns="40108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345222" y="5992509"/>
            <a:ext cx="1984104" cy="567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73"/>
              </a:lnSpc>
            </a:pPr>
            <a:r>
              <a:rPr lang="en-US" sz="1762" b="1" spc="-5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PREMIUM INCOME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24549" y="6770805"/>
            <a:ext cx="2425450" cy="837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26"/>
              </a:lnSpc>
            </a:pPr>
            <a:r>
              <a:rPr lang="en-US" sz="172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~R0.69 Million total premium revenue collected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215753" y="6272037"/>
            <a:ext cx="1984104" cy="287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73"/>
              </a:lnSpc>
            </a:pPr>
            <a:r>
              <a:rPr lang="en-US" sz="1762" b="1" spc="-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CLAIMS PAYOUT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995080" y="6770805"/>
            <a:ext cx="2425450" cy="837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26"/>
              </a:lnSpc>
            </a:pPr>
            <a:r>
              <a:rPr lang="en-US" sz="1725" spc="-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~R11.61 Million total claims paid out to policyholders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901910" y="6272037"/>
            <a:ext cx="2354710" cy="287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73"/>
              </a:lnSpc>
            </a:pPr>
            <a:r>
              <a:rPr lang="en-US" sz="1762" b="1" spc="-5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FINANCIAL GAP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866540" y="6770805"/>
            <a:ext cx="2425450" cy="1119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26"/>
              </a:lnSpc>
            </a:pPr>
            <a:r>
              <a:rPr lang="en-US" sz="172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R10.92M+ shortfall where payouts significantly exceed premiums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958674" y="5992509"/>
            <a:ext cx="1984104" cy="567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73"/>
              </a:lnSpc>
            </a:pPr>
            <a:r>
              <a:rPr lang="en-US" sz="1762" b="1" spc="-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IMPACT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738001" y="6770805"/>
            <a:ext cx="2425450" cy="837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26"/>
              </a:lnSpc>
            </a:pPr>
            <a:r>
              <a:rPr lang="en-US" sz="1725" spc="-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Threatens long-term profitability and sustainability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4176506" y="4926023"/>
            <a:ext cx="746986" cy="747004"/>
            <a:chOff x="0" y="0"/>
            <a:chExt cx="995981" cy="996005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995981" cy="996005"/>
              <a:chOff x="0" y="0"/>
              <a:chExt cx="812800" cy="812819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8128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19">
                    <a:moveTo>
                      <a:pt x="406400" y="0"/>
                    </a:moveTo>
                    <a:cubicBezTo>
                      <a:pt x="181951" y="0"/>
                      <a:pt x="0" y="181956"/>
                      <a:pt x="0" y="406410"/>
                    </a:cubicBezTo>
                    <a:cubicBezTo>
                      <a:pt x="0" y="630864"/>
                      <a:pt x="181951" y="812819"/>
                      <a:pt x="406400" y="812819"/>
                    </a:cubicBezTo>
                    <a:cubicBezTo>
                      <a:pt x="630849" y="812819"/>
                      <a:pt x="812800" y="630864"/>
                      <a:pt x="812800" y="406410"/>
                    </a:cubicBezTo>
                    <a:cubicBezTo>
                      <a:pt x="812800" y="181956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6200" y="38102"/>
                <a:ext cx="660400" cy="6985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175623" y="235561"/>
              <a:ext cx="644736" cy="486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70"/>
                </a:lnSpc>
              </a:pPr>
              <a:r>
                <a:rPr lang="en-US" sz="2225" spc="-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047037" y="4926023"/>
            <a:ext cx="746986" cy="747004"/>
            <a:chOff x="0" y="0"/>
            <a:chExt cx="995981" cy="996005"/>
          </a:xfrm>
        </p:grpSpPr>
        <p:grpSp>
          <p:nvGrpSpPr>
            <p:cNvPr id="36" name="Group 36"/>
            <p:cNvGrpSpPr/>
            <p:nvPr/>
          </p:nvGrpSpPr>
          <p:grpSpPr>
            <a:xfrm>
              <a:off x="0" y="0"/>
              <a:ext cx="995981" cy="996005"/>
              <a:chOff x="0" y="0"/>
              <a:chExt cx="812800" cy="812819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19">
                    <a:moveTo>
                      <a:pt x="406400" y="0"/>
                    </a:moveTo>
                    <a:cubicBezTo>
                      <a:pt x="181951" y="0"/>
                      <a:pt x="0" y="181956"/>
                      <a:pt x="0" y="406410"/>
                    </a:cubicBezTo>
                    <a:cubicBezTo>
                      <a:pt x="0" y="630864"/>
                      <a:pt x="181951" y="812819"/>
                      <a:pt x="406400" y="812819"/>
                    </a:cubicBezTo>
                    <a:cubicBezTo>
                      <a:pt x="630849" y="812819"/>
                      <a:pt x="812800" y="630864"/>
                      <a:pt x="812800" y="406410"/>
                    </a:cubicBezTo>
                    <a:cubicBezTo>
                      <a:pt x="812800" y="18195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sq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prstDash val="solid"/>
                <a:miter/>
              </a:ln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6200" y="38102"/>
                <a:ext cx="660400" cy="6985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9" name="TextBox 39"/>
            <p:cNvSpPr txBox="1"/>
            <p:nvPr/>
          </p:nvSpPr>
          <p:spPr>
            <a:xfrm>
              <a:off x="175623" y="235561"/>
              <a:ext cx="644736" cy="486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70"/>
                </a:lnSpc>
              </a:pPr>
              <a:r>
                <a:rPr lang="en-US" sz="2225" spc="-6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"/>
                  <a:ea typeface="Poppins"/>
                  <a:cs typeface="Poppins"/>
                  <a:sym typeface="Poppins"/>
                </a:rPr>
                <a:t>02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1919608" y="4926023"/>
            <a:ext cx="746986" cy="747004"/>
            <a:chOff x="0" y="0"/>
            <a:chExt cx="995981" cy="996005"/>
          </a:xfrm>
        </p:grpSpPr>
        <p:grpSp>
          <p:nvGrpSpPr>
            <p:cNvPr id="41" name="Group 41"/>
            <p:cNvGrpSpPr/>
            <p:nvPr/>
          </p:nvGrpSpPr>
          <p:grpSpPr>
            <a:xfrm>
              <a:off x="0" y="0"/>
              <a:ext cx="995981" cy="996005"/>
              <a:chOff x="0" y="0"/>
              <a:chExt cx="812800" cy="812819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812800" cy="8128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19">
                    <a:moveTo>
                      <a:pt x="406400" y="0"/>
                    </a:moveTo>
                    <a:cubicBezTo>
                      <a:pt x="181951" y="0"/>
                      <a:pt x="0" y="181956"/>
                      <a:pt x="0" y="406410"/>
                    </a:cubicBezTo>
                    <a:cubicBezTo>
                      <a:pt x="0" y="630864"/>
                      <a:pt x="181951" y="812819"/>
                      <a:pt x="406400" y="812819"/>
                    </a:cubicBezTo>
                    <a:cubicBezTo>
                      <a:pt x="630849" y="812819"/>
                      <a:pt x="812800" y="630864"/>
                      <a:pt x="812800" y="406410"/>
                    </a:cubicBezTo>
                    <a:cubicBezTo>
                      <a:pt x="812800" y="181956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6200" y="38102"/>
                <a:ext cx="660400" cy="6985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175623" y="235561"/>
              <a:ext cx="644736" cy="486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70"/>
                </a:lnSpc>
              </a:pPr>
              <a:r>
                <a:rPr lang="en-US" sz="2225" spc="-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5791068" y="4926023"/>
            <a:ext cx="746986" cy="747004"/>
            <a:chOff x="0" y="0"/>
            <a:chExt cx="995981" cy="996005"/>
          </a:xfrm>
        </p:grpSpPr>
        <p:grpSp>
          <p:nvGrpSpPr>
            <p:cNvPr id="46" name="Group 46"/>
            <p:cNvGrpSpPr/>
            <p:nvPr/>
          </p:nvGrpSpPr>
          <p:grpSpPr>
            <a:xfrm>
              <a:off x="0" y="0"/>
              <a:ext cx="995981" cy="996005"/>
              <a:chOff x="0" y="0"/>
              <a:chExt cx="812800" cy="812819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812800" cy="8128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19">
                    <a:moveTo>
                      <a:pt x="406400" y="0"/>
                    </a:moveTo>
                    <a:cubicBezTo>
                      <a:pt x="181951" y="0"/>
                      <a:pt x="0" y="181956"/>
                      <a:pt x="0" y="406410"/>
                    </a:cubicBezTo>
                    <a:cubicBezTo>
                      <a:pt x="0" y="630864"/>
                      <a:pt x="181951" y="812819"/>
                      <a:pt x="406400" y="812819"/>
                    </a:cubicBezTo>
                    <a:cubicBezTo>
                      <a:pt x="630849" y="812819"/>
                      <a:pt x="812800" y="630864"/>
                      <a:pt x="812800" y="406410"/>
                    </a:cubicBezTo>
                    <a:cubicBezTo>
                      <a:pt x="812800" y="18195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sq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prstDash val="solid"/>
                <a:miter/>
              </a:ln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6200" y="38102"/>
                <a:ext cx="660400" cy="6985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9" name="TextBox 49"/>
            <p:cNvSpPr txBox="1"/>
            <p:nvPr/>
          </p:nvSpPr>
          <p:spPr>
            <a:xfrm>
              <a:off x="175623" y="235561"/>
              <a:ext cx="644736" cy="486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70"/>
                </a:lnSpc>
              </a:pPr>
              <a:r>
                <a:rPr lang="en-US" sz="2225" spc="-6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"/>
                  <a:ea typeface="Poppins"/>
                  <a:cs typeface="Poppins"/>
                  <a:sym typeface="Poppins"/>
                </a:rPr>
                <a:t>04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3363658" y="1689558"/>
            <a:ext cx="11560683" cy="1115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0"/>
              </a:lnSpc>
            </a:pPr>
            <a:r>
              <a:rPr lang="en-US" sz="8561" spc="-547" dirty="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Financial Impact Overview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38046" y="58302"/>
            <a:ext cx="1849954" cy="1789864"/>
            <a:chOff x="0" y="0"/>
            <a:chExt cx="2466605" cy="2386485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66605" cy="2386485"/>
              <a:chOff x="0" y="0"/>
              <a:chExt cx="787566" cy="76198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7566" cy="761984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61984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61984"/>
                    </a:lnTo>
                    <a:lnTo>
                      <a:pt x="0" y="76198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787566" cy="8000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319164" y="694049"/>
              <a:ext cx="1828278" cy="11222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051"/>
                </a:lnSpc>
              </a:pPr>
              <a:r>
                <a:rPr lang="en-US" sz="6174" spc="-395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09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363658" y="1247968"/>
            <a:ext cx="11560683" cy="127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96"/>
              </a:lnSpc>
            </a:pPr>
            <a:r>
              <a:rPr lang="en-US" sz="9792" spc="-626" dirty="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Recommendations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2731310" y="3878731"/>
            <a:ext cx="3213033" cy="5379569"/>
            <a:chOff x="0" y="0"/>
            <a:chExt cx="1387961" cy="232385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87961" cy="2323857"/>
            </a:xfrm>
            <a:custGeom>
              <a:avLst/>
              <a:gdLst/>
              <a:ahLst/>
              <a:cxnLst/>
              <a:rect l="l" t="t" r="r" b="b"/>
              <a:pathLst>
                <a:path w="1387961" h="2323857">
                  <a:moveTo>
                    <a:pt x="0" y="0"/>
                  </a:moveTo>
                  <a:lnTo>
                    <a:pt x="1387961" y="0"/>
                  </a:lnTo>
                  <a:lnTo>
                    <a:pt x="1387961" y="2323857"/>
                  </a:lnTo>
                  <a:lnTo>
                    <a:pt x="0" y="2323857"/>
                  </a:lnTo>
                  <a:close/>
                </a:path>
              </a:pathLst>
            </a:custGeom>
            <a:solidFill>
              <a:srgbClr val="2B42A8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387961" cy="2361957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935426" y="3878731"/>
            <a:ext cx="3213033" cy="5379569"/>
            <a:chOff x="0" y="0"/>
            <a:chExt cx="1387961" cy="232385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87961" cy="2323857"/>
            </a:xfrm>
            <a:custGeom>
              <a:avLst/>
              <a:gdLst/>
              <a:ahLst/>
              <a:cxnLst/>
              <a:rect l="l" t="t" r="r" b="b"/>
              <a:pathLst>
                <a:path w="1387961" h="2323857">
                  <a:moveTo>
                    <a:pt x="0" y="0"/>
                  </a:moveTo>
                  <a:lnTo>
                    <a:pt x="1387961" y="0"/>
                  </a:lnTo>
                  <a:lnTo>
                    <a:pt x="1387961" y="2323857"/>
                  </a:lnTo>
                  <a:lnTo>
                    <a:pt x="0" y="2323857"/>
                  </a:lnTo>
                  <a:close/>
                </a:path>
              </a:pathLst>
            </a:custGeom>
            <a:solidFill>
              <a:srgbClr val="3A58E4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387961" cy="2361957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139541" y="3878731"/>
            <a:ext cx="3213033" cy="5379569"/>
            <a:chOff x="0" y="0"/>
            <a:chExt cx="1387961" cy="232385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87961" cy="2323857"/>
            </a:xfrm>
            <a:custGeom>
              <a:avLst/>
              <a:gdLst/>
              <a:ahLst/>
              <a:cxnLst/>
              <a:rect l="l" t="t" r="r" b="b"/>
              <a:pathLst>
                <a:path w="1387961" h="2323857">
                  <a:moveTo>
                    <a:pt x="0" y="0"/>
                  </a:moveTo>
                  <a:lnTo>
                    <a:pt x="1387961" y="0"/>
                  </a:lnTo>
                  <a:lnTo>
                    <a:pt x="1387961" y="2323857"/>
                  </a:lnTo>
                  <a:lnTo>
                    <a:pt x="0" y="2323857"/>
                  </a:lnTo>
                  <a:close/>
                </a:path>
              </a:pathLst>
            </a:custGeom>
            <a:solidFill>
              <a:srgbClr val="6984F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387961" cy="2361957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343657" y="3878731"/>
            <a:ext cx="3213033" cy="5379569"/>
            <a:chOff x="0" y="0"/>
            <a:chExt cx="1387961" cy="232385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87961" cy="2323857"/>
            </a:xfrm>
            <a:custGeom>
              <a:avLst/>
              <a:gdLst/>
              <a:ahLst/>
              <a:cxnLst/>
              <a:rect l="l" t="t" r="r" b="b"/>
              <a:pathLst>
                <a:path w="1387961" h="2323857">
                  <a:moveTo>
                    <a:pt x="0" y="0"/>
                  </a:moveTo>
                  <a:lnTo>
                    <a:pt x="1387961" y="0"/>
                  </a:lnTo>
                  <a:lnTo>
                    <a:pt x="1387961" y="2323857"/>
                  </a:lnTo>
                  <a:lnTo>
                    <a:pt x="0" y="2323857"/>
                  </a:lnTo>
                  <a:close/>
                </a:path>
              </a:pathLst>
            </a:custGeom>
            <a:solidFill>
              <a:srgbClr val="9AADFF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387961" cy="2361957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 rot="5400000">
            <a:off x="2595745" y="7780405"/>
            <a:ext cx="622999" cy="351870"/>
            <a:chOff x="0" y="0"/>
            <a:chExt cx="1387983" cy="78403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87983" cy="782620"/>
            </a:xfrm>
            <a:custGeom>
              <a:avLst/>
              <a:gdLst/>
              <a:ahLst/>
              <a:cxnLst/>
              <a:rect l="l" t="t" r="r" b="b"/>
              <a:pathLst>
                <a:path w="1387983" h="782620">
                  <a:moveTo>
                    <a:pt x="693992" y="0"/>
                  </a:moveTo>
                  <a:lnTo>
                    <a:pt x="1387983" y="782620"/>
                  </a:lnTo>
                  <a:lnTo>
                    <a:pt x="0" y="782620"/>
                  </a:lnTo>
                  <a:close/>
                </a:path>
              </a:pathLst>
            </a:custGeom>
            <a:solidFill>
              <a:srgbClr val="AFBEFF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93871" y="292771"/>
              <a:ext cx="800241" cy="489849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 rot="5400000">
            <a:off x="5780811" y="5004756"/>
            <a:ext cx="622999" cy="351870"/>
            <a:chOff x="0" y="0"/>
            <a:chExt cx="1387983" cy="78403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387983" cy="782620"/>
            </a:xfrm>
            <a:custGeom>
              <a:avLst/>
              <a:gdLst/>
              <a:ahLst/>
              <a:cxnLst/>
              <a:rect l="l" t="t" r="r" b="b"/>
              <a:pathLst>
                <a:path w="1387983" h="782620">
                  <a:moveTo>
                    <a:pt x="693992" y="0"/>
                  </a:moveTo>
                  <a:lnTo>
                    <a:pt x="1387983" y="782620"/>
                  </a:lnTo>
                  <a:lnTo>
                    <a:pt x="0" y="782620"/>
                  </a:lnTo>
                  <a:close/>
                </a:path>
              </a:pathLst>
            </a:custGeom>
            <a:solidFill>
              <a:srgbClr val="2B42A8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93871" y="292771"/>
              <a:ext cx="800241" cy="489849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 rot="5400000">
            <a:off x="8984927" y="7780405"/>
            <a:ext cx="622999" cy="351870"/>
            <a:chOff x="0" y="0"/>
            <a:chExt cx="1387983" cy="78403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387983" cy="782620"/>
            </a:xfrm>
            <a:custGeom>
              <a:avLst/>
              <a:gdLst/>
              <a:ahLst/>
              <a:cxnLst/>
              <a:rect l="l" t="t" r="r" b="b"/>
              <a:pathLst>
                <a:path w="1387983" h="782620">
                  <a:moveTo>
                    <a:pt x="693992" y="0"/>
                  </a:moveTo>
                  <a:lnTo>
                    <a:pt x="1387983" y="782620"/>
                  </a:lnTo>
                  <a:lnTo>
                    <a:pt x="0" y="782620"/>
                  </a:lnTo>
                  <a:close/>
                </a:path>
              </a:pathLst>
            </a:custGeom>
            <a:solidFill>
              <a:srgbClr val="3A58E4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93871" y="292771"/>
              <a:ext cx="800241" cy="489849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 rot="5400000">
            <a:off x="12179518" y="5004756"/>
            <a:ext cx="622999" cy="351870"/>
            <a:chOff x="0" y="0"/>
            <a:chExt cx="1387983" cy="78403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387983" cy="782620"/>
            </a:xfrm>
            <a:custGeom>
              <a:avLst/>
              <a:gdLst/>
              <a:ahLst/>
              <a:cxnLst/>
              <a:rect l="l" t="t" r="r" b="b"/>
              <a:pathLst>
                <a:path w="1387983" h="782620">
                  <a:moveTo>
                    <a:pt x="693992" y="0"/>
                  </a:moveTo>
                  <a:lnTo>
                    <a:pt x="1387983" y="782620"/>
                  </a:lnTo>
                  <a:lnTo>
                    <a:pt x="0" y="782620"/>
                  </a:lnTo>
                  <a:close/>
                </a:path>
              </a:pathLst>
            </a:custGeom>
            <a:solidFill>
              <a:srgbClr val="6984FE"/>
            </a:solidFill>
          </p:spPr>
          <p:txBody>
            <a:bodyPr/>
            <a:lstStyle/>
            <a:p>
              <a:endParaRPr lang="en-ZA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93871" y="292771"/>
              <a:ext cx="800241" cy="489849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269864" y="4527055"/>
            <a:ext cx="2135924" cy="1757242"/>
            <a:chOff x="0" y="0"/>
            <a:chExt cx="2847898" cy="2342990"/>
          </a:xfrm>
        </p:grpSpPr>
        <p:sp>
          <p:nvSpPr>
            <p:cNvPr id="36" name="TextBox 36"/>
            <p:cNvSpPr txBox="1"/>
            <p:nvPr/>
          </p:nvSpPr>
          <p:spPr>
            <a:xfrm>
              <a:off x="0" y="-19050"/>
              <a:ext cx="2847898" cy="6065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1872"/>
                </a:lnSpc>
              </a:pPr>
              <a:r>
                <a:rPr lang="en-US" sz="1451" b="1" spc="-4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ROOT</a:t>
              </a:r>
            </a:p>
            <a:p>
              <a:pPr marL="0" lvl="0" indent="0" algn="just">
                <a:lnSpc>
                  <a:spcPts val="1872"/>
                </a:lnSpc>
              </a:pPr>
              <a:r>
                <a:rPr lang="en-US" sz="1451" b="1" spc="-4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CAUSES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874845"/>
              <a:ext cx="2847898" cy="146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1771"/>
                </a:lnSpc>
              </a:pPr>
              <a:r>
                <a:rPr lang="en-US" sz="1373" spc="-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High exposure in Health, Auto, Life policies; Regional fraud concentration; Working-age costs.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4470562" y="7518972"/>
            <a:ext cx="1445813" cy="142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1537"/>
              </a:lnSpc>
            </a:pPr>
            <a:r>
              <a:rPr lang="en-US" sz="8944" spc="-26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01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6473980" y="7281173"/>
            <a:ext cx="2135924" cy="1309567"/>
            <a:chOff x="0" y="0"/>
            <a:chExt cx="2847898" cy="1746090"/>
          </a:xfrm>
        </p:grpSpPr>
        <p:sp>
          <p:nvSpPr>
            <p:cNvPr id="40" name="TextBox 40"/>
            <p:cNvSpPr txBox="1"/>
            <p:nvPr/>
          </p:nvSpPr>
          <p:spPr>
            <a:xfrm>
              <a:off x="0" y="-19050"/>
              <a:ext cx="2847898" cy="3017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1872"/>
                </a:lnSpc>
              </a:pPr>
              <a:r>
                <a:rPr lang="en-US" sz="1451" b="1" spc="-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FRAUD CONTROLS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570045"/>
              <a:ext cx="2847898" cy="11760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1771"/>
                </a:lnSpc>
              </a:pPr>
              <a:r>
                <a:rPr lang="en-US" sz="1373" spc="-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Strengthen detection in high-risk regions; Focus controls on Home insurance.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7425798" y="4070729"/>
            <a:ext cx="1578549" cy="142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1537"/>
              </a:lnSpc>
            </a:pPr>
            <a:r>
              <a:rPr lang="en-US" sz="8944" spc="-26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02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9681912" y="4974730"/>
            <a:ext cx="2135924" cy="1309567"/>
            <a:chOff x="0" y="0"/>
            <a:chExt cx="2847898" cy="1746090"/>
          </a:xfrm>
        </p:grpSpPr>
        <p:sp>
          <p:nvSpPr>
            <p:cNvPr id="44" name="TextBox 44"/>
            <p:cNvSpPr txBox="1"/>
            <p:nvPr/>
          </p:nvSpPr>
          <p:spPr>
            <a:xfrm>
              <a:off x="0" y="-19050"/>
              <a:ext cx="2847898" cy="3017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1872"/>
                </a:lnSpc>
              </a:pPr>
              <a:r>
                <a:rPr lang="en-US" sz="1451" b="1" spc="-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PRICING STRATEGY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570045"/>
              <a:ext cx="2847898" cy="11760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1771"/>
                </a:lnSpc>
              </a:pPr>
              <a:r>
                <a:rPr lang="en-US" sz="1373" spc="-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Implement risk-based pricing for high claim frequency and fraud exposure segments.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0617138" y="7518972"/>
            <a:ext cx="1711285" cy="142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1537"/>
              </a:lnSpc>
            </a:pPr>
            <a:r>
              <a:rPr lang="en-US" sz="8944" spc="-26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03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12886027" y="7052573"/>
            <a:ext cx="2135924" cy="1538167"/>
            <a:chOff x="0" y="0"/>
            <a:chExt cx="2847898" cy="2050890"/>
          </a:xfrm>
        </p:grpSpPr>
        <p:sp>
          <p:nvSpPr>
            <p:cNvPr id="48" name="TextBox 48"/>
            <p:cNvSpPr txBox="1"/>
            <p:nvPr/>
          </p:nvSpPr>
          <p:spPr>
            <a:xfrm>
              <a:off x="0" y="-19050"/>
              <a:ext cx="2847898" cy="6065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1872"/>
                </a:lnSpc>
              </a:pPr>
              <a:r>
                <a:rPr lang="en-US" sz="1451" b="1" spc="-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GROWTH</a:t>
              </a:r>
            </a:p>
            <a:p>
              <a:pPr marL="0" lvl="0" indent="0" algn="just">
                <a:lnSpc>
                  <a:spcPts val="1872"/>
                </a:lnSpc>
              </a:pPr>
              <a:r>
                <a:rPr lang="en-US" sz="1451" b="1" spc="-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FOCUS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874845"/>
              <a:ext cx="2847898" cy="11760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1771"/>
                </a:lnSpc>
              </a:pPr>
              <a:r>
                <a:rPr lang="en-US" sz="1373" spc="-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Target lower-risk segments for growth; Apply stricter controls for age 25-60.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3837845" y="4070729"/>
            <a:ext cx="1578549" cy="142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1537"/>
              </a:lnSpc>
            </a:pPr>
            <a:r>
              <a:rPr lang="en-US" sz="8944" spc="-26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41386" y="0"/>
            <a:ext cx="4646614" cy="10287000"/>
            <a:chOff x="0" y="0"/>
            <a:chExt cx="1223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23800" cy="2709333"/>
            </a:xfrm>
            <a:custGeom>
              <a:avLst/>
              <a:gdLst/>
              <a:ahLst/>
              <a:cxnLst/>
              <a:rect l="l" t="t" r="r" b="b"/>
              <a:pathLst>
                <a:path w="1223800" h="2709333">
                  <a:moveTo>
                    <a:pt x="0" y="0"/>
                  </a:moveTo>
                  <a:lnTo>
                    <a:pt x="1223800" y="0"/>
                  </a:lnTo>
                  <a:lnTo>
                    <a:pt x="122380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Z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23800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102839" y="1172167"/>
            <a:ext cx="1723707" cy="7604126"/>
            <a:chOff x="0" y="0"/>
            <a:chExt cx="2298277" cy="10138835"/>
          </a:xfrm>
        </p:grpSpPr>
        <p:sp>
          <p:nvSpPr>
            <p:cNvPr id="6" name="Freeform 6"/>
            <p:cNvSpPr/>
            <p:nvPr/>
          </p:nvSpPr>
          <p:spPr>
            <a:xfrm>
              <a:off x="651979" y="0"/>
              <a:ext cx="981294" cy="947395"/>
            </a:xfrm>
            <a:custGeom>
              <a:avLst/>
              <a:gdLst/>
              <a:ahLst/>
              <a:cxnLst/>
              <a:rect l="l" t="t" r="r" b="b"/>
              <a:pathLst>
                <a:path w="981294" h="947395">
                  <a:moveTo>
                    <a:pt x="0" y="0"/>
                  </a:moveTo>
                  <a:lnTo>
                    <a:pt x="981294" y="0"/>
                  </a:lnTo>
                  <a:lnTo>
                    <a:pt x="981294" y="947395"/>
                  </a:lnTo>
                  <a:lnTo>
                    <a:pt x="0" y="947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263035"/>
              <a:ext cx="2272228" cy="3338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874"/>
                </a:lnSpc>
              </a:pPr>
              <a:r>
                <a:rPr lang="en-US" sz="1751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 Analytics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024" y="1606399"/>
              <a:ext cx="2272228" cy="3338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874"/>
                </a:lnSpc>
              </a:pPr>
              <a:r>
                <a:rPr lang="en-US" sz="175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Insights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024" y="9461631"/>
              <a:ext cx="2272228" cy="3338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874"/>
                </a:lnSpc>
              </a:pPr>
              <a:r>
                <a:rPr lang="en-US" sz="1751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049" y="9804996"/>
              <a:ext cx="2272228" cy="3338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874"/>
                </a:lnSpc>
              </a:pPr>
              <a:r>
                <a:rPr lang="en-US" sz="175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of 10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1028700" y="7308293"/>
            <a:ext cx="441831" cy="441831"/>
          </a:xfrm>
          <a:custGeom>
            <a:avLst/>
            <a:gdLst/>
            <a:ahLst/>
            <a:cxnLst/>
            <a:rect l="l" t="t" r="r" b="b"/>
            <a:pathLst>
              <a:path w="441831" h="441831">
                <a:moveTo>
                  <a:pt x="0" y="0"/>
                </a:moveTo>
                <a:lnTo>
                  <a:pt x="441831" y="0"/>
                </a:lnTo>
                <a:lnTo>
                  <a:pt x="441831" y="441831"/>
                </a:lnTo>
                <a:lnTo>
                  <a:pt x="0" y="4418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2" name="Freeform 12"/>
          <p:cNvSpPr/>
          <p:nvPr/>
        </p:nvSpPr>
        <p:spPr>
          <a:xfrm>
            <a:off x="1028700" y="7988737"/>
            <a:ext cx="441831" cy="441831"/>
          </a:xfrm>
          <a:custGeom>
            <a:avLst/>
            <a:gdLst/>
            <a:ahLst/>
            <a:cxnLst/>
            <a:rect l="l" t="t" r="r" b="b"/>
            <a:pathLst>
              <a:path w="441831" h="441831">
                <a:moveTo>
                  <a:pt x="0" y="0"/>
                </a:moveTo>
                <a:lnTo>
                  <a:pt x="441831" y="0"/>
                </a:lnTo>
                <a:lnTo>
                  <a:pt x="441831" y="441831"/>
                </a:lnTo>
                <a:lnTo>
                  <a:pt x="0" y="4418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3" name="Freeform 13"/>
          <p:cNvSpPr/>
          <p:nvPr/>
        </p:nvSpPr>
        <p:spPr>
          <a:xfrm>
            <a:off x="1028700" y="8673002"/>
            <a:ext cx="441831" cy="441831"/>
          </a:xfrm>
          <a:custGeom>
            <a:avLst/>
            <a:gdLst/>
            <a:ahLst/>
            <a:cxnLst/>
            <a:rect l="l" t="t" r="r" b="b"/>
            <a:pathLst>
              <a:path w="441831" h="441831">
                <a:moveTo>
                  <a:pt x="0" y="0"/>
                </a:moveTo>
                <a:lnTo>
                  <a:pt x="441831" y="0"/>
                </a:lnTo>
                <a:lnTo>
                  <a:pt x="441831" y="441831"/>
                </a:lnTo>
                <a:lnTo>
                  <a:pt x="0" y="4418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14" name="Group 14"/>
          <p:cNvGrpSpPr/>
          <p:nvPr/>
        </p:nvGrpSpPr>
        <p:grpSpPr>
          <a:xfrm>
            <a:off x="8986465" y="0"/>
            <a:ext cx="4378150" cy="10287000"/>
            <a:chOff x="0" y="0"/>
            <a:chExt cx="678290" cy="159372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78290" cy="1593725"/>
            </a:xfrm>
            <a:custGeom>
              <a:avLst/>
              <a:gdLst/>
              <a:ahLst/>
              <a:cxnLst/>
              <a:rect l="l" t="t" r="r" b="b"/>
              <a:pathLst>
                <a:path w="678290" h="1593725">
                  <a:moveTo>
                    <a:pt x="0" y="0"/>
                  </a:moveTo>
                  <a:lnTo>
                    <a:pt x="678290" y="0"/>
                  </a:lnTo>
                  <a:lnTo>
                    <a:pt x="678290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7"/>
              <a:stretch>
                <a:fillRect l="-16964" r="-16964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16" name="AutoShape 16"/>
          <p:cNvSpPr/>
          <p:nvPr/>
        </p:nvSpPr>
        <p:spPr>
          <a:xfrm>
            <a:off x="13503000" y="0"/>
            <a:ext cx="0" cy="1028700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Box 17"/>
          <p:cNvSpPr txBox="1"/>
          <p:nvPr/>
        </p:nvSpPr>
        <p:spPr>
          <a:xfrm>
            <a:off x="14650619" y="4222699"/>
            <a:ext cx="2628148" cy="2736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955"/>
              </a:lnSpc>
            </a:pPr>
            <a:r>
              <a:rPr lang="en-US" sz="1396" spc="-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Action Plan:</a:t>
            </a:r>
          </a:p>
          <a:p>
            <a:pPr marL="0" lvl="0" indent="0" algn="just">
              <a:lnSpc>
                <a:spcPts val="1955"/>
              </a:lnSpc>
            </a:pPr>
            <a:r>
              <a:rPr lang="en-US" sz="1396" spc="-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Develop enhanced fraud detection in high-risk regions</a:t>
            </a:r>
          </a:p>
          <a:p>
            <a:pPr marL="0" lvl="0" indent="0" algn="just">
              <a:lnSpc>
                <a:spcPts val="1955"/>
              </a:lnSpc>
            </a:pPr>
            <a:r>
              <a:rPr lang="en-US" sz="1396" spc="-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Revise pricing models with risk data</a:t>
            </a:r>
          </a:p>
          <a:p>
            <a:pPr marL="0" lvl="0" indent="0" algn="just">
              <a:lnSpc>
                <a:spcPts val="1955"/>
              </a:lnSpc>
            </a:pPr>
            <a:r>
              <a:rPr lang="en-US" sz="1396" spc="-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Establish Home insurance fraud monitoring</a:t>
            </a:r>
          </a:p>
          <a:p>
            <a:pPr marL="0" lvl="0" indent="0" algn="just">
              <a:lnSpc>
                <a:spcPts val="1955"/>
              </a:lnSpc>
            </a:pPr>
            <a:r>
              <a:rPr lang="en-US" sz="1396" spc="-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Launch customer engagement campaigns</a:t>
            </a:r>
          </a:p>
          <a:p>
            <a:pPr marL="0" lvl="0" indent="0" algn="just">
              <a:lnSpc>
                <a:spcPts val="1955"/>
              </a:lnSpc>
            </a:pPr>
            <a:r>
              <a:rPr lang="en-US" sz="1396" spc="-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Schedule regular claims reviews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38585" y="7324490"/>
            <a:ext cx="2891575" cy="331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36"/>
              </a:lnSpc>
            </a:pPr>
            <a:r>
              <a:rPr lang="en-US" sz="2136" spc="-81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oppins"/>
                <a:ea typeface="Poppins"/>
                <a:cs typeface="Poppins"/>
                <a:sym typeface="Poppins"/>
              </a:rPr>
              <a:t>081 357 3364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38585" y="7992073"/>
            <a:ext cx="5248389" cy="331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36"/>
              </a:lnSpc>
            </a:pPr>
            <a:r>
              <a:rPr lang="en-US" sz="2136" spc="-81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oppins"/>
                <a:ea typeface="Poppins"/>
                <a:cs typeface="Poppins"/>
                <a:sym typeface="Poppins"/>
              </a:rPr>
              <a:t>kopanom012@gmail.com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38585" y="8689199"/>
            <a:ext cx="5248389" cy="330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36"/>
              </a:lnSpc>
            </a:pPr>
            <a:r>
              <a:rPr lang="en-US" sz="2136" u="sng" spc="-81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Poppins"/>
                <a:ea typeface="Poppins"/>
                <a:cs typeface="Poppins"/>
                <a:sym typeface="Poppins"/>
                <a:hlinkClick r:id="rId8" tooltip="http://www.linkedin.com/in/kopanomofokeng/"/>
              </a:rPr>
              <a:t>www.linkedin.com/in/kopanomofokeng/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857250"/>
            <a:ext cx="6671890" cy="1460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905"/>
              </a:lnSpc>
              <a:spcBef>
                <a:spcPct val="0"/>
              </a:spcBef>
            </a:pPr>
            <a:r>
              <a:rPr lang="en-US" sz="8504" b="1" spc="-544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Thank You!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2316167"/>
            <a:ext cx="6671890" cy="3237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333"/>
              </a:lnSpc>
            </a:pPr>
            <a:r>
              <a:rPr lang="en-US" sz="8504" spc="-544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Questions and</a:t>
            </a:r>
          </a:p>
          <a:p>
            <a:pPr marL="0" lvl="0" indent="0" algn="just">
              <a:lnSpc>
                <a:spcPts val="8333"/>
              </a:lnSpc>
            </a:pPr>
            <a:r>
              <a:rPr lang="en-US" sz="8504" spc="-544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Discussion</a:t>
            </a:r>
          </a:p>
          <a:p>
            <a:pPr marL="0" lvl="0" indent="0" algn="just">
              <a:lnSpc>
                <a:spcPts val="8333"/>
              </a:lnSpc>
            </a:pPr>
            <a:r>
              <a:rPr lang="en-US" sz="8504" spc="-544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3732</TotalTime>
  <Words>711</Words>
  <Application>Microsoft Office PowerPoint</Application>
  <PresentationFormat>Custom</PresentationFormat>
  <Paragraphs>130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Bricolage Grotesque</vt:lpstr>
      <vt:lpstr>Calibri</vt:lpstr>
      <vt:lpstr>Poppins Bold</vt:lpstr>
      <vt:lpstr>Canva Sans Bold</vt:lpstr>
      <vt:lpstr>Bricolage Grotesque Bold</vt:lpstr>
      <vt:lpstr>Arial</vt:lpstr>
      <vt:lpstr>Poppins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Claims and Risk Insights</dc:title>
  <dc:creator>Kopano Mofokeng</dc:creator>
  <cp:lastModifiedBy>Kopano Mofokeng</cp:lastModifiedBy>
  <cp:revision>3</cp:revision>
  <dcterms:created xsi:type="dcterms:W3CDTF">2006-08-16T00:00:00Z</dcterms:created>
  <dcterms:modified xsi:type="dcterms:W3CDTF">2026-04-26T22:01:10Z</dcterms:modified>
  <dc:identifier>DAHHrJ4MJFc</dc:identifier>
</cp:coreProperties>
</file>